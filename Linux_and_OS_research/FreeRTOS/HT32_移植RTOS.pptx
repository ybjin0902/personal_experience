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2" r:id="rId6"/>
    <p:sldId id="259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0" r:id="rId16"/>
    <p:sldId id="274" r:id="rId17"/>
    <p:sldId id="273" r:id="rId18"/>
    <p:sldId id="275" r:id="rId19"/>
    <p:sldId id="276" r:id="rId20"/>
    <p:sldId id="281" r:id="rId21"/>
    <p:sldId id="282" r:id="rId22"/>
    <p:sldId id="283" r:id="rId23"/>
    <p:sldId id="272" r:id="rId24"/>
    <p:sldId id="284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 snapToGrid="0">
      <p:cViewPr>
        <p:scale>
          <a:sx n="100" d="100"/>
          <a:sy n="100" d="100"/>
        </p:scale>
        <p:origin x="90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BE4792-C023-13E1-1C7D-87571D989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2693B6D-3B87-AA01-8EF7-48B26DDA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33D843-918F-C774-BC9B-88005D79E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F8C38-8C23-4A5A-B343-CE6F098D30A1}" type="datetimeFigureOut">
              <a:rPr lang="zh-TW" altLang="en-US" smtClean="0"/>
              <a:t>2024/8/5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6A6BA8-12EA-61FA-1D5B-6A1107068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59907D-981D-EC0E-D92C-FD06C9FC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DB80E-3D75-4B32-B1A5-3DA4530A6B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150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95305" y="1953575"/>
            <a:ext cx="8801385" cy="1935967"/>
          </a:xfrm>
        </p:spPr>
        <p:txBody>
          <a:bodyPr anchor="b">
            <a:normAutofit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altLang="en-US" sz="4800" kern="1200" baseline="0" dirty="0">
                <a:solidFill>
                  <a:srgbClr val="044875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</a:lstStyle>
          <a:p>
            <a:r>
              <a:rPr lang="zh-TW" altLang="en-US" dirty="0"/>
              <a:t>按一下以編輯標題樣式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305" y="4276478"/>
            <a:ext cx="8801383" cy="602673"/>
          </a:xfrm>
        </p:spPr>
        <p:txBody>
          <a:bodyPr>
            <a:normAutofit/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lang="en-US" altLang="en-US" sz="2800" kern="1200" dirty="0">
                <a:solidFill>
                  <a:srgbClr val="044875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EF64-848E-4536-98FC-BF38BCBD1EC2}" type="datetime1">
              <a:rPr lang="zh-TW" altLang="en-US" smtClean="0"/>
              <a:t>2024/8/5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7" name="组合 58">
            <a:extLst>
              <a:ext uri="{FF2B5EF4-FFF2-40B4-BE49-F238E27FC236}">
                <a16:creationId xmlns:a16="http://schemas.microsoft.com/office/drawing/2014/main" id="{F00B2AD5-78A5-4EFA-8EAC-B3DD01A5E6A0}"/>
              </a:ext>
            </a:extLst>
          </p:cNvPr>
          <p:cNvGrpSpPr>
            <a:grpSpLocks/>
          </p:cNvGrpSpPr>
          <p:nvPr/>
        </p:nvGrpSpPr>
        <p:grpSpPr bwMode="auto">
          <a:xfrm>
            <a:off x="1695306" y="3889541"/>
            <a:ext cx="8801385" cy="361950"/>
            <a:chOff x="4154888" y="3453573"/>
            <a:chExt cx="3846874" cy="361046"/>
          </a:xfrm>
        </p:grpSpPr>
        <p:cxnSp>
          <p:nvCxnSpPr>
            <p:cNvPr id="8" name="直接连接符 20">
              <a:extLst>
                <a:ext uri="{FF2B5EF4-FFF2-40B4-BE49-F238E27FC236}">
                  <a16:creationId xmlns:a16="http://schemas.microsoft.com/office/drawing/2014/main" id="{42148983-8062-46F6-9A7D-5946D2AA64C5}"/>
                </a:ext>
              </a:extLst>
            </p:cNvPr>
            <p:cNvCxnSpPr/>
            <p:nvPr/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等腰三角形 8">
              <a:extLst>
                <a:ext uri="{FF2B5EF4-FFF2-40B4-BE49-F238E27FC236}">
                  <a16:creationId xmlns:a16="http://schemas.microsoft.com/office/drawing/2014/main" id="{1C706508-E280-424A-A54E-0BBA110F5F04}"/>
                </a:ext>
              </a:extLst>
            </p:cNvPr>
            <p:cNvSpPr/>
            <p:nvPr/>
          </p:nvSpPr>
          <p:spPr>
            <a:xfrm flipV="1">
              <a:off x="5872725" y="3459907"/>
              <a:ext cx="411201" cy="354712"/>
            </a:xfrm>
            <a:prstGeom prst="triangle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EB71921-97EC-4848-BB58-91A011B821A0}"/>
              </a:ext>
            </a:extLst>
          </p:cNvPr>
          <p:cNvGrpSpPr/>
          <p:nvPr/>
        </p:nvGrpSpPr>
        <p:grpSpPr>
          <a:xfrm>
            <a:off x="86373" y="949045"/>
            <a:ext cx="12029508" cy="4959929"/>
            <a:chOff x="792163" y="1462088"/>
            <a:chExt cx="8602897" cy="399415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6CC4430-B42F-4319-9B43-CA65A21C47B5}"/>
                </a:ext>
              </a:extLst>
            </p:cNvPr>
            <p:cNvSpPr/>
            <p:nvPr/>
          </p:nvSpPr>
          <p:spPr>
            <a:xfrm>
              <a:off x="1588446" y="2264222"/>
              <a:ext cx="7002994" cy="2382838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/>
            </a:p>
          </p:txBody>
        </p:sp>
        <p:grpSp>
          <p:nvGrpSpPr>
            <p:cNvPr id="12" name="组合 42">
              <a:extLst>
                <a:ext uri="{FF2B5EF4-FFF2-40B4-BE49-F238E27FC236}">
                  <a16:creationId xmlns:a16="http://schemas.microsoft.com/office/drawing/2014/main" id="{030337B4-CBE2-4433-BCDB-7F08C9D70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85423" y="4325938"/>
              <a:ext cx="1109637" cy="1130300"/>
              <a:chOff x="663165" y="682103"/>
              <a:chExt cx="1109112" cy="1131217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FD40A8B-4B29-4887-ADDF-9C41DED0E3A1}"/>
                  </a:ext>
                </a:extLst>
              </p:cNvPr>
              <p:cNvSpPr/>
              <p:nvPr/>
            </p:nvSpPr>
            <p:spPr>
              <a:xfrm>
                <a:off x="837684" y="858458"/>
                <a:ext cx="769574" cy="768973"/>
              </a:xfrm>
              <a:prstGeom prst="rect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12F1383-F1F2-4ED7-A146-6461D7D339B7}"/>
                  </a:ext>
                </a:extLst>
              </p:cNvPr>
              <p:cNvSpPr/>
              <p:nvPr/>
            </p:nvSpPr>
            <p:spPr>
              <a:xfrm>
                <a:off x="663165" y="682103"/>
                <a:ext cx="558536" cy="559253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4EB3412D-81A0-498A-8F3C-B7A8795145A1}"/>
                  </a:ext>
                </a:extLst>
              </p:cNvPr>
              <p:cNvSpPr/>
              <p:nvPr/>
            </p:nvSpPr>
            <p:spPr>
              <a:xfrm>
                <a:off x="1213741" y="1254067"/>
                <a:ext cx="558536" cy="559253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/>
              </a:p>
            </p:txBody>
          </p:sp>
        </p:grpSp>
        <p:grpSp>
          <p:nvGrpSpPr>
            <p:cNvPr id="13" name="组合 43">
              <a:extLst>
                <a:ext uri="{FF2B5EF4-FFF2-40B4-BE49-F238E27FC236}">
                  <a16:creationId xmlns:a16="http://schemas.microsoft.com/office/drawing/2014/main" id="{CAB3695B-1D5B-46C8-A2AC-830ADCD484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163" y="1462088"/>
              <a:ext cx="1109662" cy="1131887"/>
              <a:chOff x="2666985" y="682103"/>
              <a:chExt cx="1109138" cy="1131217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923825D-D08D-4F4B-B1AA-0F2A041164FA}"/>
                  </a:ext>
                </a:extLst>
              </p:cNvPr>
              <p:cNvSpPr/>
              <p:nvPr/>
            </p:nvSpPr>
            <p:spPr>
              <a:xfrm>
                <a:off x="2841528" y="858211"/>
                <a:ext cx="769573" cy="769482"/>
              </a:xfrm>
              <a:prstGeom prst="rect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6FEA19C-EDE2-4E23-90D0-E5764960B386}"/>
                  </a:ext>
                </a:extLst>
              </p:cNvPr>
              <p:cNvSpPr/>
              <p:nvPr/>
            </p:nvSpPr>
            <p:spPr>
              <a:xfrm>
                <a:off x="2666985" y="682103"/>
                <a:ext cx="558536" cy="558469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A58263A-2C8B-4AA0-A7D5-4F5F072BDD55}"/>
                  </a:ext>
                </a:extLst>
              </p:cNvPr>
              <p:cNvSpPr/>
              <p:nvPr/>
            </p:nvSpPr>
            <p:spPr>
              <a:xfrm>
                <a:off x="3217587" y="1254851"/>
                <a:ext cx="558536" cy="558469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/>
              </a:p>
            </p:txBody>
          </p:sp>
        </p:grp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DA206BC9-4141-45A5-8246-C478940F7E9A}"/>
              </a:ext>
            </a:extLst>
          </p:cNvPr>
          <p:cNvSpPr/>
          <p:nvPr/>
        </p:nvSpPr>
        <p:spPr>
          <a:xfrm>
            <a:off x="0" y="0"/>
            <a:ext cx="12192000" cy="492919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80979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F61FB8D0-30DD-440C-A53C-CF662D6739E5}" type="datetime1">
              <a:rPr lang="zh-TW" altLang="en-US" smtClean="0"/>
              <a:t>2024/8/5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5AB5AE-D71F-426C-894C-18B8FC2ECF2E}"/>
              </a:ext>
            </a:extLst>
          </p:cNvPr>
          <p:cNvSpPr/>
          <p:nvPr/>
        </p:nvSpPr>
        <p:spPr>
          <a:xfrm>
            <a:off x="1" y="2014540"/>
            <a:ext cx="12191999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44A2A8-D4B5-4E39-B1B5-565B633733D6}"/>
              </a:ext>
            </a:extLst>
          </p:cNvPr>
          <p:cNvSpPr/>
          <p:nvPr/>
        </p:nvSpPr>
        <p:spPr>
          <a:xfrm>
            <a:off x="1" y="2663825"/>
            <a:ext cx="1350107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AC4CC8-F06E-4A26-8CEC-2DD79BAD8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815" y="2638432"/>
            <a:ext cx="7033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44875"/>
                </a:solidFill>
                <a:latin typeface="+mn-ea"/>
                <a:ea typeface="+mn-ea"/>
              </a:rPr>
              <a:t>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538757-AC83-47DF-9D59-4AEE79EF5D76}"/>
              </a:ext>
            </a:extLst>
          </p:cNvPr>
          <p:cNvSpPr/>
          <p:nvPr/>
        </p:nvSpPr>
        <p:spPr>
          <a:xfrm>
            <a:off x="3075362" y="2663825"/>
            <a:ext cx="9116638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379E7A-8C27-4D6B-9C8C-D5ED62D6A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577" y="2638435"/>
            <a:ext cx="21746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44875"/>
                </a:solidFill>
                <a:latin typeface="+mn-ea"/>
                <a:ea typeface="+mn-ea"/>
              </a:rPr>
              <a:t>部分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4E70EA-372C-4ECB-8C66-12EE0317F3A4}"/>
              </a:ext>
            </a:extLst>
          </p:cNvPr>
          <p:cNvSpPr/>
          <p:nvPr/>
        </p:nvSpPr>
        <p:spPr>
          <a:xfrm>
            <a:off x="1" y="254580"/>
            <a:ext cx="12191999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>
              <a:solidFill>
                <a:prstClr val="white"/>
              </a:solidFill>
              <a:latin typeface="+mn-ea"/>
              <a:ea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50109" y="2180725"/>
            <a:ext cx="1725254" cy="1500187"/>
          </a:xfrm>
        </p:spPr>
        <p:txBody>
          <a:bodyPr>
            <a:noAutofit/>
          </a:bodyPr>
          <a:lstStyle>
            <a:lvl1pPr marL="0" indent="0" algn="ctr">
              <a:buNone/>
              <a:defRPr lang="zh-TW" altLang="en-US" sz="11502" b="1" kern="1200" dirty="0" smtClean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08577" y="3389555"/>
            <a:ext cx="9083423" cy="1313880"/>
          </a:xfrm>
        </p:spPr>
        <p:txBody>
          <a:bodyPr anchor="ctr">
            <a:normAutofit/>
          </a:bodyPr>
          <a:lstStyle>
            <a:lvl1pPr algn="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altLang="en-US" sz="4800" b="1" kern="1200" baseline="0" dirty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zh-TW" altLang="en-US" dirty="0"/>
              <a:t>按一下以編輯標題樣式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39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0278" y="49065"/>
            <a:ext cx="4692641" cy="648000"/>
          </a:xfrm>
        </p:spPr>
        <p:txBody>
          <a:bodyPr>
            <a:noAutofit/>
          </a:bodyPr>
          <a:lstStyle>
            <a:lvl1pPr>
              <a:defRPr lang="en-US" altLang="en-US" sz="3200" kern="1200" baseline="0" dirty="0">
                <a:solidFill>
                  <a:srgbClr val="044875"/>
                </a:solidFill>
                <a:latin typeface="Times New Roman" panose="02020603050405020304" pitchFamily="18" charset="0"/>
                <a:ea typeface="標楷體"/>
                <a:cs typeface="+mn-cs"/>
              </a:defRPr>
            </a:lvl1pPr>
          </a:lstStyle>
          <a:p>
            <a:pPr lvl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dirty="0"/>
              <a:t>編輯標題樣式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253331"/>
            <a:ext cx="10515600" cy="4351338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B97F-57BA-4CAE-AC1F-9A77A5BB5657}" type="datetime1">
              <a:rPr lang="zh-TW" altLang="en-US" smtClean="0"/>
              <a:t>2024/8/5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94AE3F-120F-4D03-9467-47751CA222F6}"/>
              </a:ext>
            </a:extLst>
          </p:cNvPr>
          <p:cNvSpPr/>
          <p:nvPr/>
        </p:nvSpPr>
        <p:spPr>
          <a:xfrm>
            <a:off x="0" y="254002"/>
            <a:ext cx="750277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8F899C-2739-4DD8-B8A2-57E1ECE45745}"/>
              </a:ext>
            </a:extLst>
          </p:cNvPr>
          <p:cNvSpPr/>
          <p:nvPr/>
        </p:nvSpPr>
        <p:spPr>
          <a:xfrm>
            <a:off x="5442919" y="254002"/>
            <a:ext cx="6749082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8735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0276" y="49065"/>
            <a:ext cx="4692641" cy="6480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rgbClr val="044875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algn="ctr" fontAlgn="base">
              <a:spcAft>
                <a:spcPct val="0"/>
              </a:spcAft>
            </a:pPr>
            <a:r>
              <a:rPr lang="zh-TW" altLang="en-US" dirty="0"/>
              <a:t>編輯標題樣式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244601"/>
            <a:ext cx="5181600" cy="4932363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244601"/>
            <a:ext cx="5181600" cy="4932363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326DB08C-3415-4492-892A-B6D47BBE6463}" type="datetime1">
              <a:rPr lang="zh-TW" altLang="en-US" smtClean="0"/>
              <a:t>2024/8/5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A1C34B-CCCA-4AC8-9C30-77AEFBCD8792}"/>
              </a:ext>
            </a:extLst>
          </p:cNvPr>
          <p:cNvSpPr/>
          <p:nvPr/>
        </p:nvSpPr>
        <p:spPr>
          <a:xfrm>
            <a:off x="0" y="254002"/>
            <a:ext cx="750277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1C6B0F-1789-494A-96DF-AE8DE4F351CF}"/>
              </a:ext>
            </a:extLst>
          </p:cNvPr>
          <p:cNvSpPr/>
          <p:nvPr/>
        </p:nvSpPr>
        <p:spPr>
          <a:xfrm>
            <a:off x="5442919" y="254002"/>
            <a:ext cx="6749082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2841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36AC1DA-60B9-E6D0-E27C-B9705540D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57ECC2-3EFB-D076-5627-C4A70BD4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E0BB14-6BAC-723F-4F01-76B5680D7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F8C38-8C23-4A5A-B343-CE6F098D30A1}" type="datetimeFigureOut">
              <a:rPr lang="zh-TW" altLang="en-US" smtClean="0"/>
              <a:t>2024/8/5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FB8704-EFDE-B51B-465C-6BF8A7E74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6C8917-7702-3F78-A836-048A755D6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DB80E-3D75-4B32-B1A5-3DA4530A6B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3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2" r:id="rId3"/>
    <p:sldLayoutId id="2147483661" r:id="rId4"/>
    <p:sldLayoutId id="214748366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rtos.org/a00104.html" TargetMode="External"/><Relationship Id="rId2" Type="http://schemas.openxmlformats.org/officeDocument/2006/relationships/hyperlink" Target="https://www.holtek.com.tw/page/vg/HT32F52342-52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keil.com/download/product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-m6mSneZxjg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DCE219-6CD6-57B2-6553-243CA4D066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作業系統 期末報告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C719AD4-12CC-CD67-B72D-C3AAE30692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學生：黃書俊</a:t>
            </a:r>
          </a:p>
        </p:txBody>
      </p:sp>
    </p:spTree>
    <p:extLst>
      <p:ext uri="{BB962C8B-B14F-4D97-AF65-F5344CB8AC3E}">
        <p14:creationId xmlns:p14="http://schemas.microsoft.com/office/powerpoint/2010/main" val="3822971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E33D17-B89E-8C87-FFF4-153D0336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　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4E5D86-A30B-60CA-60C5-1EDF9D447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簡介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Free RTOS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操作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系統實作、流程與架構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實驗與驗證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B08400A-0159-3495-AC4D-EB6E3BFCD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878" y="1016000"/>
            <a:ext cx="4780480" cy="209420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F1E2A33-6F95-EDA1-3613-CEB3453D2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991" y="3429000"/>
            <a:ext cx="4277422" cy="151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6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BC74F94B-EA04-5B1C-4873-ED8CE0607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1FA4BE2-9AAC-BAD6-E572-36B9F233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簡介</a:t>
            </a:r>
          </a:p>
        </p:txBody>
      </p:sp>
    </p:spTree>
    <p:extLst>
      <p:ext uri="{BB962C8B-B14F-4D97-AF65-F5344CB8AC3E}">
        <p14:creationId xmlns:p14="http://schemas.microsoft.com/office/powerpoint/2010/main" val="63014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43A6F-64C9-7506-671F-8A3679C38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</a:t>
            </a:r>
            <a:r>
              <a:rPr lang="zh-TW" altLang="en-US" dirty="0"/>
              <a:t>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7C7A6F-61CA-14A5-E101-3540378EF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硬體規格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HT32F52352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LED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燈泡 </a:t>
            </a:r>
            <a:r>
              <a:rPr lang="en-US" altLang="zh-TW" dirty="0"/>
              <a:t>* 3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USB COM port to TTL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－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XCTU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設計環境：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Keil</a:t>
            </a:r>
          </a:p>
          <a:p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RTOS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Task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Queue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實作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C6006F-9FF0-C1EE-7803-7F99B6BB7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396" y="3571875"/>
            <a:ext cx="2869045" cy="2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7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6A666D3E-FCC3-E7EA-18A1-56A4263B3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06C478-B2FF-4F2A-A6E1-39BE7D18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Free RTOS </a:t>
            </a:r>
            <a:r>
              <a:rPr lang="zh-TW" altLang="en-US" dirty="0"/>
              <a:t>操作</a:t>
            </a:r>
          </a:p>
        </p:txBody>
      </p:sp>
    </p:spTree>
    <p:extLst>
      <p:ext uri="{BB962C8B-B14F-4D97-AF65-F5344CB8AC3E}">
        <p14:creationId xmlns:p14="http://schemas.microsoft.com/office/powerpoint/2010/main" val="967619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6FF4B6-703B-495A-119E-EE30B447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環境建置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638FDA-6962-854E-BF65-3CD4A7210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Holtek</a:t>
            </a:r>
            <a:r>
              <a:rPr lang="en-US" altLang="zh-TW" dirty="0"/>
              <a:t> </a:t>
            </a:r>
            <a:r>
              <a:rPr lang="zh-TW" altLang="en-US" dirty="0"/>
              <a:t>官網下載 </a:t>
            </a:r>
            <a:r>
              <a:rPr lang="en-US" altLang="zh-TW" dirty="0"/>
              <a:t>example code</a:t>
            </a:r>
          </a:p>
          <a:p>
            <a:pPr lvl="1"/>
            <a:r>
              <a:rPr lang="en-US" altLang="zh-TW" dirty="0">
                <a:hlinkClick r:id="rId2"/>
              </a:rPr>
              <a:t>https://www.holtek.com.tw/page/vg/HT32F52342-52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Free RTOS </a:t>
            </a:r>
            <a:r>
              <a:rPr lang="zh-TW" altLang="en-US" dirty="0"/>
              <a:t>官網下載 </a:t>
            </a:r>
            <a:r>
              <a:rPr lang="en-US" altLang="zh-TW" dirty="0"/>
              <a:t>code</a:t>
            </a:r>
          </a:p>
          <a:p>
            <a:pPr lvl="1"/>
            <a:r>
              <a:rPr lang="en-US" altLang="zh-TW" dirty="0">
                <a:hlinkClick r:id="rId3"/>
              </a:rPr>
              <a:t>https://www.freertos.org/a00104.html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Keil </a:t>
            </a:r>
            <a:r>
              <a:rPr lang="zh-TW" altLang="en-US" dirty="0"/>
              <a:t>編譯器下載</a:t>
            </a:r>
            <a:endParaRPr lang="en-US" altLang="zh-TW" dirty="0"/>
          </a:p>
          <a:p>
            <a:pPr lvl="1"/>
            <a:r>
              <a:rPr lang="en-US" altLang="zh-TW" dirty="0">
                <a:hlinkClick r:id="rId4"/>
              </a:rPr>
              <a:t>https://www.keil.com/download/product/</a:t>
            </a:r>
            <a:endParaRPr lang="en-US" altLang="zh-TW" dirty="0"/>
          </a:p>
          <a:p>
            <a:pPr lvl="1"/>
            <a:r>
              <a:rPr lang="zh-TW" altLang="en-US" dirty="0"/>
              <a:t>本專案所設計之大小並沒有很大，所以一般免費版即可，若專案太大則需要付費解鎖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08331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85C93C-9856-880D-06CC-7854E13F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環境建置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B7949D-14A6-0244-DFFA-871A310C6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3331"/>
            <a:ext cx="10515600" cy="512899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解壓縮 </a:t>
            </a:r>
            <a:r>
              <a:rPr lang="en-US" altLang="zh-TW" dirty="0"/>
              <a:t>FreeRTOS202212.01</a:t>
            </a:r>
          </a:p>
          <a:p>
            <a:pPr marL="971550" lvl="1" indent="-514350">
              <a:buFont typeface="+mj-lt"/>
              <a:buAutoNum type="alphaLcParenR"/>
            </a:pPr>
            <a:r>
              <a:rPr lang="zh-TW" altLang="en-US" sz="2000" dirty="0"/>
              <a:t>複製 </a:t>
            </a:r>
            <a:r>
              <a:rPr lang="en-US" altLang="zh-TW" sz="2000" dirty="0"/>
              <a:t>License </a:t>
            </a:r>
            <a:r>
              <a:rPr lang="zh-TW" altLang="en-US" sz="2000" dirty="0"/>
              <a:t>與 </a:t>
            </a:r>
            <a:r>
              <a:rPr lang="en-US" altLang="zh-TW" sz="2000" dirty="0"/>
              <a:t>Source</a:t>
            </a:r>
            <a:r>
              <a:rPr lang="zh-TW" altLang="en-US" sz="2000" dirty="0"/>
              <a:t> 資料夾至自行移植之資料夾</a:t>
            </a:r>
            <a:br>
              <a:rPr lang="en-US" altLang="zh-TW" dirty="0"/>
            </a:b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對 </a:t>
            </a:r>
            <a:r>
              <a:rPr lang="en-US" altLang="zh-TW" dirty="0"/>
              <a:t>Source </a:t>
            </a:r>
            <a:r>
              <a:rPr lang="zh-TW" altLang="en-US" dirty="0"/>
              <a:t>資料夾內部之 </a:t>
            </a:r>
            <a:r>
              <a:rPr lang="en-US" altLang="zh-TW" dirty="0"/>
              <a:t>Keil </a:t>
            </a:r>
            <a:r>
              <a:rPr lang="zh-TW" altLang="en-US" dirty="0"/>
              <a:t>與 </a:t>
            </a:r>
            <a:r>
              <a:rPr lang="en-US" altLang="zh-TW" dirty="0" err="1"/>
              <a:t>MemMang</a:t>
            </a:r>
            <a:r>
              <a:rPr lang="en-US" altLang="zh-TW" dirty="0"/>
              <a:t> </a:t>
            </a:r>
            <a:r>
              <a:rPr lang="zh-TW" altLang="en-US" dirty="0"/>
              <a:t>加工</a:t>
            </a:r>
            <a:endParaRPr lang="en-US" altLang="zh-TW" dirty="0"/>
          </a:p>
          <a:p>
            <a:pPr marL="971550" lvl="1" indent="-514350">
              <a:buFont typeface="+mj-lt"/>
              <a:buAutoNum type="alphaLcParenR"/>
            </a:pPr>
            <a:r>
              <a:rPr lang="en-US" altLang="zh-TW" sz="2000" dirty="0"/>
              <a:t>Keil</a:t>
            </a:r>
            <a:r>
              <a:rPr lang="zh-TW" altLang="en-US" sz="2000" dirty="0"/>
              <a:t>：先進入 </a:t>
            </a:r>
            <a:r>
              <a:rPr lang="en-US" altLang="zh-TW" sz="2000" dirty="0"/>
              <a:t>RVDS </a:t>
            </a:r>
            <a:r>
              <a:rPr lang="zh-TW" altLang="en-US" sz="2000" dirty="0"/>
              <a:t>資料夾 </a:t>
            </a:r>
            <a:r>
              <a:rPr lang="en-US" altLang="zh-TW" sz="2000" dirty="0"/>
              <a:t>&gt; </a:t>
            </a:r>
            <a:r>
              <a:rPr lang="zh-TW" altLang="en-US" sz="2000" dirty="0"/>
              <a:t>只留下 </a:t>
            </a:r>
            <a:r>
              <a:rPr lang="en-US" altLang="zh-TW" sz="2000" dirty="0"/>
              <a:t>ARM_CM0 </a:t>
            </a:r>
            <a:br>
              <a:rPr lang="en-US" altLang="zh-TW" sz="2000" dirty="0"/>
            </a:br>
            <a:r>
              <a:rPr lang="en-US" altLang="zh-TW" sz="2000" dirty="0"/>
              <a:t>(</a:t>
            </a:r>
            <a:r>
              <a:rPr lang="zh-TW" altLang="en-US" sz="2000" dirty="0"/>
              <a:t>因為 </a:t>
            </a:r>
            <a:r>
              <a:rPr lang="en-US" altLang="zh-TW" sz="2000" dirty="0"/>
              <a:t>HT32F52352 </a:t>
            </a:r>
            <a:r>
              <a:rPr lang="zh-TW" altLang="en-US" sz="2000" dirty="0"/>
              <a:t>為 </a:t>
            </a:r>
            <a:r>
              <a:rPr lang="en-US" altLang="zh-TW" sz="2000" dirty="0"/>
              <a:t>Cortex-M0+)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altLang="zh-TW" sz="2000" dirty="0" err="1"/>
              <a:t>MemMang</a:t>
            </a:r>
            <a:r>
              <a:rPr lang="zh-TW" altLang="en-US" sz="2000" dirty="0"/>
              <a:t>：進入 </a:t>
            </a:r>
            <a:r>
              <a:rPr lang="en-US" altLang="zh-TW" sz="2000" dirty="0" err="1"/>
              <a:t>MemMang</a:t>
            </a:r>
            <a:r>
              <a:rPr lang="en-US" altLang="zh-TW" sz="2000" dirty="0"/>
              <a:t> </a:t>
            </a:r>
            <a:r>
              <a:rPr lang="zh-TW" altLang="en-US" sz="2000" dirty="0"/>
              <a:t>資料夾 </a:t>
            </a:r>
            <a:r>
              <a:rPr lang="en-US" altLang="zh-TW" sz="2000" dirty="0"/>
              <a:t>&gt; </a:t>
            </a:r>
            <a:r>
              <a:rPr lang="zh-TW" altLang="en-US" sz="2000" dirty="0"/>
              <a:t>只留下 </a:t>
            </a:r>
            <a:r>
              <a:rPr lang="en-US" altLang="zh-TW" sz="2000" dirty="0"/>
              <a:t>heap_4.c</a:t>
            </a:r>
            <a:br>
              <a:rPr lang="en-US" altLang="zh-TW" sz="2000" dirty="0"/>
            </a:b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將該資料夾放置在 </a:t>
            </a:r>
            <a:r>
              <a:rPr lang="en-US" altLang="zh-TW" sz="2400" dirty="0" err="1"/>
              <a:t>Holtek</a:t>
            </a:r>
            <a:r>
              <a:rPr lang="en-US" altLang="zh-TW" sz="2400" dirty="0"/>
              <a:t> </a:t>
            </a:r>
            <a:r>
              <a:rPr lang="zh-TW" altLang="en-US" sz="2400" dirty="0"/>
              <a:t>之 </a:t>
            </a:r>
            <a:r>
              <a:rPr lang="en-US" altLang="zh-TW" sz="2400" dirty="0" err="1"/>
              <a:t>exmaple</a:t>
            </a:r>
            <a:r>
              <a:rPr lang="en-US" altLang="zh-TW" sz="2400" dirty="0"/>
              <a:t> code </a:t>
            </a:r>
            <a:r>
              <a:rPr lang="zh-TW" altLang="en-US" sz="2400" dirty="0"/>
              <a:t>總資料夾中</a:t>
            </a:r>
            <a:br>
              <a:rPr lang="en-US" altLang="zh-TW" sz="2400" dirty="0"/>
            </a:br>
            <a:endParaRPr lang="en-US" altLang="zh-TW" sz="24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移植 </a:t>
            </a:r>
            <a:r>
              <a:rPr lang="en-US" altLang="zh-TW" sz="2400" dirty="0" err="1"/>
              <a:t>FreeRTOSConfig.h</a:t>
            </a:r>
            <a:endParaRPr lang="en-US" altLang="zh-TW" sz="2400" dirty="0"/>
          </a:p>
          <a:p>
            <a:pPr marL="971550" lvl="1" indent="-514350">
              <a:buFont typeface="+mj-lt"/>
              <a:buAutoNum type="alphaLcParenR"/>
            </a:pPr>
            <a:r>
              <a:rPr lang="en-US" altLang="zh-TW" sz="2000" dirty="0"/>
              <a:t>FreeRTOSv202212.01\</a:t>
            </a:r>
            <a:r>
              <a:rPr lang="en-US" altLang="zh-TW" sz="2000" dirty="0" err="1"/>
              <a:t>FreeRTOS</a:t>
            </a:r>
            <a:r>
              <a:rPr lang="en-US" altLang="zh-TW" sz="2000" dirty="0"/>
              <a:t>\Demo\CORTEX_M0+_NUCLEO_L010RB_GCC_IAR\Config </a:t>
            </a:r>
            <a:r>
              <a:rPr lang="zh-TW" altLang="en-US" sz="2000" dirty="0"/>
              <a:t>中，將</a:t>
            </a:r>
            <a:r>
              <a:rPr lang="en-US" altLang="zh-TW" sz="2000" dirty="0" err="1"/>
              <a:t>FreeRTOSConfig.h</a:t>
            </a:r>
            <a:r>
              <a:rPr lang="en-US" altLang="zh-TW" sz="2000" dirty="0"/>
              <a:t> </a:t>
            </a:r>
            <a:r>
              <a:rPr lang="zh-TW" altLang="en-US" sz="2000" dirty="0"/>
              <a:t>加到 </a:t>
            </a:r>
            <a:r>
              <a:rPr lang="en-US" altLang="zh-TW" sz="2000" dirty="0"/>
              <a:t>&gt; \library\CMSIS\Include </a:t>
            </a:r>
            <a:r>
              <a:rPr lang="zh-TW" altLang="en-US" sz="2000" dirty="0"/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1559580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0DAA2D-D24D-68B9-A473-47ACB002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</a:t>
            </a:r>
            <a:r>
              <a:rPr lang="zh-TW" altLang="en-US" dirty="0"/>
              <a:t>移植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A44487-104F-F1B0-0480-30AF2CBDD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開啟 </a:t>
            </a:r>
            <a:r>
              <a:rPr lang="en-US" altLang="zh-TW" dirty="0" err="1"/>
              <a:t>Holtek</a:t>
            </a:r>
            <a:r>
              <a:rPr lang="en-US" altLang="zh-TW" dirty="0"/>
              <a:t> example </a:t>
            </a:r>
            <a:r>
              <a:rPr lang="zh-TW" altLang="en-US" dirty="0"/>
              <a:t>在預設專案中新增資料夾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在資料夾中新增圖中的檔案 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596E661-6013-018D-F17B-5E840B152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379" y="1810327"/>
            <a:ext cx="3063779" cy="483754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EA3DBF-4BE7-CC6D-6AA6-A9B6BDA60FFB}"/>
              </a:ext>
            </a:extLst>
          </p:cNvPr>
          <p:cNvSpPr/>
          <p:nvPr/>
        </p:nvSpPr>
        <p:spPr>
          <a:xfrm>
            <a:off x="8903855" y="4404589"/>
            <a:ext cx="1625600" cy="20239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1399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220F4-BFFC-1202-0291-CE17CE9C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移植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04D025-4D74-905F-F8BF-DFAB82F1F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設定 </a:t>
            </a:r>
            <a:r>
              <a:rPr lang="en-US" altLang="zh-TW" dirty="0"/>
              <a:t>Include </a:t>
            </a:r>
            <a:r>
              <a:rPr lang="zh-TW" altLang="en-US" dirty="0"/>
              <a:t>路徑</a:t>
            </a:r>
            <a:endParaRPr lang="en-US" altLang="zh-TW" dirty="0"/>
          </a:p>
          <a:p>
            <a:r>
              <a:rPr lang="zh-TW" altLang="en-US" dirty="0"/>
              <a:t>新增如圖中所是之兩個 </a:t>
            </a:r>
            <a:r>
              <a:rPr lang="en-US" altLang="zh-TW" dirty="0" err="1"/>
              <a:t>FreeRTOS</a:t>
            </a:r>
            <a:r>
              <a:rPr lang="en-US" altLang="zh-TW" dirty="0"/>
              <a:t> </a:t>
            </a:r>
            <a:r>
              <a:rPr lang="zh-TW" altLang="en-US" dirty="0"/>
              <a:t>專案部分路徑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CD410F3-F29E-ED04-EF97-26905F8CA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298" y="2586182"/>
            <a:ext cx="5742858" cy="391246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734B4F1-CF7E-824F-EFE7-ED9C73B9363B}"/>
              </a:ext>
            </a:extLst>
          </p:cNvPr>
          <p:cNvSpPr/>
          <p:nvPr/>
        </p:nvSpPr>
        <p:spPr>
          <a:xfrm>
            <a:off x="5810250" y="4209761"/>
            <a:ext cx="3112770" cy="3241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9260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8EA174-664E-E08A-B55F-1D15BD97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移植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192817-E0E6-F6C1-1A04-29F4934B2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9430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部分 </a:t>
            </a:r>
            <a:r>
              <a:rPr lang="en-US" altLang="zh-TW" dirty="0"/>
              <a:t>Kernel</a:t>
            </a:r>
            <a:r>
              <a:rPr lang="zh-TW" altLang="en-US" dirty="0"/>
              <a:t> 檔需要更改，因應 </a:t>
            </a:r>
            <a:r>
              <a:rPr lang="en-US" altLang="zh-TW" dirty="0"/>
              <a:t>RTOS</a:t>
            </a:r>
            <a:r>
              <a:rPr lang="zh-TW" altLang="en-US" dirty="0"/>
              <a:t> 操作需要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sz="2000" dirty="0"/>
              <a:t>extern uint32_t </a:t>
            </a:r>
            <a:r>
              <a:rPr lang="en-US" altLang="zh-TW" sz="2000" dirty="0" err="1"/>
              <a:t>SystemCoreClock</a:t>
            </a:r>
            <a:r>
              <a:rPr lang="en-US" altLang="zh-TW" sz="2000" dirty="0"/>
              <a:t>; =&gt; extern volatile uint32_t </a:t>
            </a:r>
            <a:r>
              <a:rPr lang="en-US" altLang="zh-TW" sz="2000" dirty="0" err="1"/>
              <a:t>SystemCoreClock</a:t>
            </a:r>
            <a:r>
              <a:rPr lang="en-US" altLang="zh-TW" sz="2000" dirty="0"/>
              <a:t>;</a:t>
            </a:r>
          </a:p>
          <a:p>
            <a:pPr lvl="1">
              <a:lnSpc>
                <a:spcPct val="150000"/>
              </a:lnSpc>
            </a:pPr>
            <a:r>
              <a:rPr lang="zh-TW" altLang="en-US" sz="2000" dirty="0"/>
              <a:t>取消靜態記憶體申請：</a:t>
            </a:r>
            <a:r>
              <a:rPr lang="en-US" altLang="zh-TW" sz="2000" dirty="0"/>
              <a:t>#define </a:t>
            </a:r>
            <a:r>
              <a:rPr lang="en-US" altLang="zh-TW" sz="2000" dirty="0" err="1"/>
              <a:t>configSUPPORT_STATIC_ALLOCATION</a:t>
            </a:r>
            <a:r>
              <a:rPr lang="en-US" altLang="zh-TW" sz="2000" dirty="0"/>
              <a:t> 1 </a:t>
            </a:r>
            <a:br>
              <a:rPr lang="en-US" altLang="zh-TW" sz="2000" dirty="0"/>
            </a:br>
            <a:r>
              <a:rPr lang="en-US" altLang="zh-TW" sz="2000" dirty="0"/>
              <a:t>			 </a:t>
            </a:r>
            <a:r>
              <a:rPr lang="zh-TW" altLang="en-US" sz="2000" dirty="0"/>
              <a:t> </a:t>
            </a:r>
            <a:r>
              <a:rPr lang="en-US" altLang="zh-TW" sz="2000" dirty="0"/>
              <a:t>=&gt; #define </a:t>
            </a:r>
            <a:r>
              <a:rPr lang="en-US" altLang="zh-TW" sz="2000" dirty="0" err="1"/>
              <a:t>configSUPPORT_STATIC_ALLOCATION</a:t>
            </a:r>
            <a:r>
              <a:rPr lang="en-US" altLang="zh-TW" sz="2000" dirty="0"/>
              <a:t> 0</a:t>
            </a:r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3320756-F968-D3C9-A0AA-BA61A0563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717574"/>
            <a:ext cx="10325100" cy="12192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244C336-7BEF-889C-87F4-C9D816EDC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493040"/>
            <a:ext cx="9348881" cy="822433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2C83B13D-C0D5-E95A-393F-5B1CC94C10FB}"/>
              </a:ext>
            </a:extLst>
          </p:cNvPr>
          <p:cNvGrpSpPr/>
          <p:nvPr/>
        </p:nvGrpSpPr>
        <p:grpSpPr>
          <a:xfrm>
            <a:off x="6226175" y="1026666"/>
            <a:ext cx="5417185" cy="1326009"/>
            <a:chOff x="6226175" y="1026666"/>
            <a:chExt cx="5417185" cy="132600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9AED04F-A7A5-7486-1234-29DDB3FF338B}"/>
                </a:ext>
              </a:extLst>
            </p:cNvPr>
            <p:cNvSpPr/>
            <p:nvPr/>
          </p:nvSpPr>
          <p:spPr>
            <a:xfrm>
              <a:off x="6226175" y="2067841"/>
              <a:ext cx="793750" cy="2848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CA671863-F15F-294C-2392-2380BF577247}"/>
                </a:ext>
              </a:extLst>
            </p:cNvPr>
            <p:cNvSpPr/>
            <p:nvPr/>
          </p:nvSpPr>
          <p:spPr>
            <a:xfrm>
              <a:off x="10012680" y="1026666"/>
              <a:ext cx="1630680" cy="873535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因應 </a:t>
              </a:r>
              <a:r>
                <a:rPr lang="en-US" altLang="zh-TW" dirty="0"/>
                <a:t>RTOS</a:t>
              </a:r>
              <a:r>
                <a:rPr lang="zh-TW" altLang="en-US" dirty="0"/>
                <a:t> 的多執行緒</a:t>
              </a:r>
            </a:p>
          </p:txBody>
        </p:sp>
        <p:cxnSp>
          <p:nvCxnSpPr>
            <p:cNvPr id="15" name="接點: 弧形 14">
              <a:extLst>
                <a:ext uri="{FF2B5EF4-FFF2-40B4-BE49-F238E27FC236}">
                  <a16:creationId xmlns:a16="http://schemas.microsoft.com/office/drawing/2014/main" id="{08697154-34E4-76C3-F6D1-31052B8BA84F}"/>
                </a:ext>
              </a:extLst>
            </p:cNvPr>
            <p:cNvCxnSpPr>
              <a:stCxn id="6" idx="0"/>
              <a:endCxn id="13" idx="1"/>
            </p:cNvCxnSpPr>
            <p:nvPr/>
          </p:nvCxnSpPr>
          <p:spPr>
            <a:xfrm rot="5400000" flipH="1" flipV="1">
              <a:off x="8015662" y="70823"/>
              <a:ext cx="604407" cy="3389630"/>
            </a:xfrm>
            <a:prstGeom prst="curvedConnector2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554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C1D351-5227-8449-1142-FDC6B8C2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移植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4C63CA-AF33-F548-4655-69098815B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 </a:t>
            </a:r>
            <a:r>
              <a:rPr lang="en-US" altLang="zh-TW" dirty="0" err="1"/>
              <a:t>FreeRTOS</a:t>
            </a:r>
            <a:r>
              <a:rPr lang="en-US" altLang="zh-TW" dirty="0"/>
              <a:t> </a:t>
            </a:r>
            <a:r>
              <a:rPr lang="zh-TW" altLang="en-US" dirty="0"/>
              <a:t>會占用 </a:t>
            </a:r>
            <a:r>
              <a:rPr lang="en-US" altLang="zh-TW" dirty="0"/>
              <a:t>sys </a:t>
            </a:r>
            <a:r>
              <a:rPr lang="zh-TW" altLang="en-US" dirty="0"/>
              <a:t>資源所以需刪除 </a:t>
            </a:r>
            <a:r>
              <a:rPr lang="en-US" altLang="zh-TW" dirty="0"/>
              <a:t>ht32f5xxxx_01_it.c </a:t>
            </a:r>
            <a:r>
              <a:rPr lang="zh-TW" altLang="en-US" dirty="0"/>
              <a:t>中的三個函數：</a:t>
            </a:r>
            <a:r>
              <a:rPr lang="en-US" altLang="zh-TW" dirty="0"/>
              <a:t>SVC</a:t>
            </a:r>
            <a:r>
              <a:rPr lang="zh-TW" altLang="en-US" dirty="0"/>
              <a:t>、</a:t>
            </a:r>
            <a:r>
              <a:rPr lang="en-US" altLang="zh-TW" dirty="0" err="1"/>
              <a:t>PandSV</a:t>
            </a:r>
            <a:r>
              <a:rPr lang="zh-TW" altLang="en-US" dirty="0"/>
              <a:t>、</a:t>
            </a:r>
            <a:r>
              <a:rPr lang="en-US" altLang="zh-TW" dirty="0" err="1"/>
              <a:t>SysTick</a:t>
            </a:r>
            <a:br>
              <a:rPr lang="en-US" altLang="zh-TW" dirty="0"/>
            </a:br>
            <a:endParaRPr lang="en-US" altLang="zh-TW" dirty="0"/>
          </a:p>
          <a:p>
            <a:r>
              <a:rPr lang="en-US" altLang="zh-TW" dirty="0"/>
              <a:t>ht32f5xxxx_01_it.c</a:t>
            </a:r>
            <a:r>
              <a:rPr lang="zh-TW" altLang="en-US" dirty="0"/>
              <a:t> 為 </a:t>
            </a:r>
            <a:r>
              <a:rPr lang="en-US" altLang="zh-TW" dirty="0" err="1"/>
              <a:t>Holtek</a:t>
            </a:r>
            <a:r>
              <a:rPr lang="en-US" altLang="zh-TW" dirty="0"/>
              <a:t> </a:t>
            </a:r>
            <a:r>
              <a:rPr lang="zh-TW" altLang="en-US" dirty="0"/>
              <a:t>中管理中斷的檔案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D09D795-A648-FEFD-8E93-3AEF7AF81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21" y="3795657"/>
            <a:ext cx="9575629" cy="127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80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DF7716-C90B-631F-002A-72CAB42FA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</a:t>
            </a:r>
            <a:r>
              <a:rPr lang="en-US" altLang="zh-TW" dirty="0"/>
              <a:t>Task </a:t>
            </a:r>
            <a:r>
              <a:rPr lang="zh-TW" altLang="en-US" dirty="0"/>
              <a:t>需求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C0606D-EBCF-8123-0BCC-830839039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013474"/>
            <a:ext cx="10515600" cy="5120626"/>
          </a:xfrm>
        </p:spPr>
        <p:txBody>
          <a:bodyPr>
            <a:normAutofit/>
          </a:bodyPr>
          <a:lstStyle/>
          <a:p>
            <a:r>
              <a:rPr lang="en-US" altLang="zh-TW" dirty="0"/>
              <a:t>RTOS</a:t>
            </a:r>
            <a:r>
              <a:rPr lang="zh-TW" altLang="en-US" dirty="0"/>
              <a:t> 任務需求表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Queue </a:t>
            </a:r>
            <a:r>
              <a:rPr lang="zh-TW" altLang="en-US" dirty="0"/>
              <a:t>需求表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每個 </a:t>
            </a:r>
            <a:r>
              <a:rPr lang="en-US" altLang="zh-TW" dirty="0"/>
              <a:t>Task</a:t>
            </a:r>
            <a:r>
              <a:rPr lang="zh-TW" altLang="en-US" dirty="0"/>
              <a:t> 都備有狀態燈表示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DB43A51-C77D-0AD9-E67F-46E9882B8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218" y="4864858"/>
            <a:ext cx="1662545" cy="166254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240C04F-3C53-ADEF-CB8A-EFADADBD5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1559163"/>
            <a:ext cx="9729455" cy="11525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E5BE28F-993E-F02D-FD4F-2F6404685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8" y="3573787"/>
            <a:ext cx="5868392" cy="57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4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B7CB4188-AB62-BC25-BF36-D17600163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DF75031-07A8-9DEB-46C0-5B3A4B4A5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系統實作、流程與架構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1545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562593-1D4C-2D76-EC3D-22C7AD3C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</a:t>
            </a:r>
            <a:r>
              <a:rPr lang="zh-TW" altLang="en-US" dirty="0"/>
              <a:t>系統流程圖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84DE4A9-8508-9A9E-9C9D-1D87E29F91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078" b="44742"/>
          <a:stretch/>
        </p:blipFill>
        <p:spPr>
          <a:xfrm>
            <a:off x="543898" y="1273295"/>
            <a:ext cx="2170727" cy="431140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A4F00A9-FF3F-A872-BE74-98C7836D1B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0" r="37734"/>
          <a:stretch/>
        </p:blipFill>
        <p:spPr>
          <a:xfrm>
            <a:off x="3145446" y="611340"/>
            <a:ext cx="8296276" cy="599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4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54CB06-2A4C-923E-BA57-CC99A1B3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</a:t>
            </a:r>
            <a:r>
              <a:rPr lang="zh-TW" altLang="en-US" dirty="0"/>
              <a:t>系統流程圖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E324232-1F2C-538E-AA6C-5A09463B70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1"/>
          <a:stretch/>
        </p:blipFill>
        <p:spPr>
          <a:xfrm>
            <a:off x="1415083" y="801840"/>
            <a:ext cx="5334000" cy="57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27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C3F6B848-E722-0C71-1B07-7B6396E27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04" y="1034473"/>
            <a:ext cx="6830195" cy="522778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12C2065-2C5B-D57C-6B08-0E37148C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FreeRTOSConfig.h</a:t>
            </a:r>
            <a:r>
              <a:rPr lang="en-US" altLang="zh-TW" dirty="0"/>
              <a:t> </a:t>
            </a:r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B70F1937-E606-9F70-E212-3BDE4348F7DF}"/>
              </a:ext>
            </a:extLst>
          </p:cNvPr>
          <p:cNvGrpSpPr/>
          <p:nvPr/>
        </p:nvGrpSpPr>
        <p:grpSpPr>
          <a:xfrm>
            <a:off x="423204" y="3182735"/>
            <a:ext cx="11590446" cy="923330"/>
            <a:chOff x="426063" y="3179633"/>
            <a:chExt cx="11590446" cy="92333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70B7735-10F2-975F-BEAD-AF4BB4027A3A}"/>
                </a:ext>
              </a:extLst>
            </p:cNvPr>
            <p:cNvSpPr/>
            <p:nvPr/>
          </p:nvSpPr>
          <p:spPr>
            <a:xfrm>
              <a:off x="426063" y="3352800"/>
              <a:ext cx="6824481" cy="591127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箭號: 向右 6">
              <a:extLst>
                <a:ext uri="{FF2B5EF4-FFF2-40B4-BE49-F238E27FC236}">
                  <a16:creationId xmlns:a16="http://schemas.microsoft.com/office/drawing/2014/main" id="{7C617CE0-D282-5DC4-4AF6-3D62FAFD49ED}"/>
                </a:ext>
              </a:extLst>
            </p:cNvPr>
            <p:cNvSpPr/>
            <p:nvPr/>
          </p:nvSpPr>
          <p:spPr>
            <a:xfrm>
              <a:off x="7481454" y="3398982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381117E4-044A-3ACF-58FA-6655BDC668D3}"/>
                </a:ext>
              </a:extLst>
            </p:cNvPr>
            <p:cNvSpPr txBox="1"/>
            <p:nvPr/>
          </p:nvSpPr>
          <p:spPr>
            <a:xfrm>
              <a:off x="8776532" y="3179633"/>
              <a:ext cx="323997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因應硬體規格：最大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HEAP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為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10 * 1024</a:t>
              </a:r>
            </a:p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每個任務大小需要小於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1024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9E568C8A-9C5C-C3DF-6812-C105832746FF}"/>
              </a:ext>
            </a:extLst>
          </p:cNvPr>
          <p:cNvGrpSpPr/>
          <p:nvPr/>
        </p:nvGrpSpPr>
        <p:grpSpPr>
          <a:xfrm>
            <a:off x="423204" y="2951290"/>
            <a:ext cx="11513035" cy="646331"/>
            <a:chOff x="426063" y="2975102"/>
            <a:chExt cx="11513035" cy="64633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2941E52-3FAB-B3A4-F3C3-0DC8F9CF98E5}"/>
                </a:ext>
              </a:extLst>
            </p:cNvPr>
            <p:cNvSpPr/>
            <p:nvPr/>
          </p:nvSpPr>
          <p:spPr>
            <a:xfrm>
              <a:off x="426063" y="3111340"/>
              <a:ext cx="6824481" cy="373857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箭號: 向右 10">
              <a:extLst>
                <a:ext uri="{FF2B5EF4-FFF2-40B4-BE49-F238E27FC236}">
                  <a16:creationId xmlns:a16="http://schemas.microsoft.com/office/drawing/2014/main" id="{00B97137-259E-D437-B9DD-C7547096C84A}"/>
                </a:ext>
              </a:extLst>
            </p:cNvPr>
            <p:cNvSpPr/>
            <p:nvPr/>
          </p:nvSpPr>
          <p:spPr>
            <a:xfrm>
              <a:off x="7485629" y="3055952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0380659-584C-9B78-BEF8-9CBBA2B683F0}"/>
                </a:ext>
              </a:extLst>
            </p:cNvPr>
            <p:cNvSpPr txBox="1"/>
            <p:nvPr/>
          </p:nvSpPr>
          <p:spPr>
            <a:xfrm>
              <a:off x="8699121" y="2975102"/>
              <a:ext cx="32399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Task 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優先權級最大數</a:t>
              </a:r>
              <a:endPara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預設為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5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379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BB9A2F-E3DC-CB35-631E-7452D5FA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Task Setup</a:t>
            </a:r>
            <a:endParaRPr lang="zh-TW" altLang="en-US" dirty="0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38F04053-DAED-BDD4-5808-FE1E62A4A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78" y="1147554"/>
            <a:ext cx="4812322" cy="4038222"/>
          </a:xfrm>
          <a:prstGeom prst="rect">
            <a:avLst/>
          </a:prstGeom>
        </p:spPr>
      </p:pic>
      <p:grpSp>
        <p:nvGrpSpPr>
          <p:cNvPr id="39" name="群組 38">
            <a:extLst>
              <a:ext uri="{FF2B5EF4-FFF2-40B4-BE49-F238E27FC236}">
                <a16:creationId xmlns:a16="http://schemas.microsoft.com/office/drawing/2014/main" id="{68F29127-D87D-6C96-E3F9-81E472351B5C}"/>
              </a:ext>
            </a:extLst>
          </p:cNvPr>
          <p:cNvGrpSpPr/>
          <p:nvPr/>
        </p:nvGrpSpPr>
        <p:grpSpPr>
          <a:xfrm>
            <a:off x="778853" y="1147553"/>
            <a:ext cx="8298185" cy="1281321"/>
            <a:chOff x="778853" y="1147553"/>
            <a:chExt cx="8298185" cy="1281321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57C8A5C-76BC-C093-83B3-180B70FDD5FF}"/>
                </a:ext>
              </a:extLst>
            </p:cNvPr>
            <p:cNvSpPr/>
            <p:nvPr/>
          </p:nvSpPr>
          <p:spPr>
            <a:xfrm>
              <a:off x="778853" y="1147553"/>
              <a:ext cx="4664066" cy="128132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45DF6A54-EC06-9FF5-D245-573C2181D5F2}"/>
                </a:ext>
              </a:extLst>
            </p:cNvPr>
            <p:cNvSpPr txBox="1"/>
            <p:nvPr/>
          </p:nvSpPr>
          <p:spPr>
            <a:xfrm>
              <a:off x="6629402" y="1229709"/>
              <a:ext cx="244763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Sender_1_Task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：</a:t>
              </a:r>
              <a:endPara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優先級：高</a:t>
              </a:r>
              <a:endPara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任務大小：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50</a:t>
              </a: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7F4A790-A2D3-2AD8-65F6-C5BC32BE6855}"/>
                </a:ext>
              </a:extLst>
            </p:cNvPr>
            <p:cNvSpPr/>
            <p:nvPr/>
          </p:nvSpPr>
          <p:spPr>
            <a:xfrm>
              <a:off x="5442919" y="1545897"/>
              <a:ext cx="978408" cy="484632"/>
            </a:xfrm>
            <a:prstGeom prst="rightArrow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54F52F0-A18A-6A59-7343-73E3923CA92C}"/>
                </a:ext>
              </a:extLst>
            </p:cNvPr>
            <p:cNvSpPr/>
            <p:nvPr/>
          </p:nvSpPr>
          <p:spPr>
            <a:xfrm>
              <a:off x="5344122" y="1691374"/>
              <a:ext cx="426553" cy="1921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E9D0FD4B-5541-A7A2-DC2E-BEB71F2773D9}"/>
              </a:ext>
            </a:extLst>
          </p:cNvPr>
          <p:cNvGrpSpPr/>
          <p:nvPr/>
        </p:nvGrpSpPr>
        <p:grpSpPr>
          <a:xfrm>
            <a:off x="778853" y="2500929"/>
            <a:ext cx="8298185" cy="1281321"/>
            <a:chOff x="778853" y="1147553"/>
            <a:chExt cx="8298185" cy="128132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58DAC08D-1EDD-A175-DA9D-59DB0CFD5AE5}"/>
                </a:ext>
              </a:extLst>
            </p:cNvPr>
            <p:cNvSpPr/>
            <p:nvPr/>
          </p:nvSpPr>
          <p:spPr>
            <a:xfrm>
              <a:off x="778853" y="1147553"/>
              <a:ext cx="4664066" cy="128132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205893F1-4277-FA44-B68A-47A9AB8B9120}"/>
                </a:ext>
              </a:extLst>
            </p:cNvPr>
            <p:cNvSpPr txBox="1"/>
            <p:nvPr/>
          </p:nvSpPr>
          <p:spPr>
            <a:xfrm>
              <a:off x="6629402" y="1229709"/>
              <a:ext cx="244763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Sender_2_Task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：</a:t>
              </a:r>
              <a:endPara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優先級：中</a:t>
              </a:r>
              <a:endPara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任務大小：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50</a:t>
              </a:r>
            </a:p>
          </p:txBody>
        </p:sp>
        <p:sp>
          <p:nvSpPr>
            <p:cNvPr id="43" name="箭號: 向右 42">
              <a:extLst>
                <a:ext uri="{FF2B5EF4-FFF2-40B4-BE49-F238E27FC236}">
                  <a16:creationId xmlns:a16="http://schemas.microsoft.com/office/drawing/2014/main" id="{3FEB99F1-AAE8-B091-3585-429B4EE130BD}"/>
                </a:ext>
              </a:extLst>
            </p:cNvPr>
            <p:cNvSpPr/>
            <p:nvPr/>
          </p:nvSpPr>
          <p:spPr>
            <a:xfrm>
              <a:off x="5442919" y="1545897"/>
              <a:ext cx="978408" cy="484632"/>
            </a:xfrm>
            <a:prstGeom prst="rightArrow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DE92285-AF72-0C3F-E6C7-99B392D98021}"/>
                </a:ext>
              </a:extLst>
            </p:cNvPr>
            <p:cNvSpPr/>
            <p:nvPr/>
          </p:nvSpPr>
          <p:spPr>
            <a:xfrm>
              <a:off x="5344122" y="1691374"/>
              <a:ext cx="426553" cy="1921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1DBF32A2-CEAF-C192-C727-9D656B431903}"/>
              </a:ext>
            </a:extLst>
          </p:cNvPr>
          <p:cNvGrpSpPr/>
          <p:nvPr/>
        </p:nvGrpSpPr>
        <p:grpSpPr>
          <a:xfrm>
            <a:off x="778853" y="3885305"/>
            <a:ext cx="8854673" cy="1281321"/>
            <a:chOff x="778853" y="1147553"/>
            <a:chExt cx="8854673" cy="128132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2E5386B-9626-22C8-CBD2-38DB526979CC}"/>
                </a:ext>
              </a:extLst>
            </p:cNvPr>
            <p:cNvSpPr/>
            <p:nvPr/>
          </p:nvSpPr>
          <p:spPr>
            <a:xfrm>
              <a:off x="778853" y="1147553"/>
              <a:ext cx="4664066" cy="128132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5DD2AF14-D21B-0332-FCAF-3C9B1A3370F2}"/>
                </a:ext>
              </a:extLst>
            </p:cNvPr>
            <p:cNvSpPr txBox="1"/>
            <p:nvPr/>
          </p:nvSpPr>
          <p:spPr>
            <a:xfrm>
              <a:off x="6629401" y="1229709"/>
              <a:ext cx="30041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>
                  <a:latin typeface="Times New Roman" panose="02020603050405020304" pitchFamily="18" charset="0"/>
                  <a:ea typeface="標楷體" panose="03000509000000000000" pitchFamily="65" charset="-120"/>
                </a:rPr>
                <a:t>Receiver_Task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：</a:t>
              </a:r>
              <a:endPara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優先級：低</a:t>
              </a:r>
              <a:endPara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任務大小：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256</a:t>
              </a:r>
            </a:p>
          </p:txBody>
        </p:sp>
        <p:sp>
          <p:nvSpPr>
            <p:cNvPr id="48" name="箭號: 向右 47">
              <a:extLst>
                <a:ext uri="{FF2B5EF4-FFF2-40B4-BE49-F238E27FC236}">
                  <a16:creationId xmlns:a16="http://schemas.microsoft.com/office/drawing/2014/main" id="{9B3B221B-9C74-0B10-642D-AB8AE219890A}"/>
                </a:ext>
              </a:extLst>
            </p:cNvPr>
            <p:cNvSpPr/>
            <p:nvPr/>
          </p:nvSpPr>
          <p:spPr>
            <a:xfrm>
              <a:off x="5442919" y="1545897"/>
              <a:ext cx="978408" cy="484632"/>
            </a:xfrm>
            <a:prstGeom prst="rightArrow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B3E48AF-013F-728F-BDA8-0E2C7DA868E1}"/>
                </a:ext>
              </a:extLst>
            </p:cNvPr>
            <p:cNvSpPr/>
            <p:nvPr/>
          </p:nvSpPr>
          <p:spPr>
            <a:xfrm>
              <a:off x="5344122" y="1691374"/>
              <a:ext cx="426553" cy="1921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2152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DD2995-70D3-882F-9803-6699DC46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Task Setup</a:t>
            </a:r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5C5BF46A-F3A5-D7D3-8F2A-05B45D6FB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30" y="1181121"/>
            <a:ext cx="5283469" cy="4067433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167A26B0-19FE-DCC3-ED29-9B0D2763D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603" y="1181121"/>
            <a:ext cx="5259757" cy="2195922"/>
          </a:xfrm>
          <a:prstGeom prst="rect">
            <a:avLst/>
          </a:prstGeom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EDAC7D6B-01A2-9930-1845-BE3A02F7A463}"/>
              </a:ext>
            </a:extLst>
          </p:cNvPr>
          <p:cNvGrpSpPr/>
          <p:nvPr/>
        </p:nvGrpSpPr>
        <p:grpSpPr>
          <a:xfrm>
            <a:off x="550930" y="1152245"/>
            <a:ext cx="5397288" cy="4623079"/>
            <a:chOff x="550930" y="1152245"/>
            <a:chExt cx="5397288" cy="462307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91C97A8-7F61-1322-32C5-14760812EF6B}"/>
                </a:ext>
              </a:extLst>
            </p:cNvPr>
            <p:cNvSpPr/>
            <p:nvPr/>
          </p:nvSpPr>
          <p:spPr>
            <a:xfrm>
              <a:off x="550930" y="1152245"/>
              <a:ext cx="5397288" cy="416789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DEAE6923-D0C5-4E2F-9BB7-B9D8D206F455}"/>
                </a:ext>
              </a:extLst>
            </p:cNvPr>
            <p:cNvSpPr txBox="1"/>
            <p:nvPr/>
          </p:nvSpPr>
          <p:spPr>
            <a:xfrm>
              <a:off x="550930" y="540599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創建各任務</a:t>
              </a:r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1F4D2B8-3F9E-CAA2-2845-EAB467C05873}"/>
              </a:ext>
            </a:extLst>
          </p:cNvPr>
          <p:cNvGrpSpPr/>
          <p:nvPr/>
        </p:nvGrpSpPr>
        <p:grpSpPr>
          <a:xfrm>
            <a:off x="6448426" y="782913"/>
            <a:ext cx="5040785" cy="1064937"/>
            <a:chOff x="6448426" y="782913"/>
            <a:chExt cx="5040785" cy="1064937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42A932-C32F-A894-C945-606597240109}"/>
                </a:ext>
              </a:extLst>
            </p:cNvPr>
            <p:cNvSpPr/>
            <p:nvPr/>
          </p:nvSpPr>
          <p:spPr>
            <a:xfrm>
              <a:off x="6448426" y="1181121"/>
              <a:ext cx="3857624" cy="66672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C481BE45-1595-78CA-2F8E-551D27A1CF31}"/>
                </a:ext>
              </a:extLst>
            </p:cNvPr>
            <p:cNvSpPr txBox="1"/>
            <p:nvPr/>
          </p:nvSpPr>
          <p:spPr>
            <a:xfrm>
              <a:off x="10160001" y="782913"/>
              <a:ext cx="1329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創建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Queue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BDF156F0-DC31-9E7A-BB0B-409DBFCDAF70}"/>
              </a:ext>
            </a:extLst>
          </p:cNvPr>
          <p:cNvGrpSpPr/>
          <p:nvPr/>
        </p:nvGrpSpPr>
        <p:grpSpPr>
          <a:xfrm>
            <a:off x="6448426" y="1976438"/>
            <a:ext cx="1831180" cy="1883097"/>
            <a:chOff x="6448426" y="1976438"/>
            <a:chExt cx="1831180" cy="1883097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57BDE3F-198E-76A8-0EF5-AF904B720917}"/>
                </a:ext>
              </a:extLst>
            </p:cNvPr>
            <p:cNvSpPr/>
            <p:nvPr/>
          </p:nvSpPr>
          <p:spPr>
            <a:xfrm>
              <a:off x="6448426" y="1976438"/>
              <a:ext cx="1831180" cy="2524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35581365-3EFD-F0F2-85C3-703EAF9F93F6}"/>
                </a:ext>
              </a:extLst>
            </p:cNvPr>
            <p:cNvSpPr txBox="1"/>
            <p:nvPr/>
          </p:nvSpPr>
          <p:spPr>
            <a:xfrm>
              <a:off x="6448426" y="3490203"/>
              <a:ext cx="1826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先將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Queue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 清空</a:t>
              </a:r>
            </a:p>
          </p:txBody>
        </p:sp>
        <p:cxnSp>
          <p:nvCxnSpPr>
            <p:cNvPr id="32" name="接點: 弧形 31">
              <a:extLst>
                <a:ext uri="{FF2B5EF4-FFF2-40B4-BE49-F238E27FC236}">
                  <a16:creationId xmlns:a16="http://schemas.microsoft.com/office/drawing/2014/main" id="{FE8393A5-9EE3-00FB-6BB6-9A4F3FE1684C}"/>
                </a:ext>
              </a:extLst>
            </p:cNvPr>
            <p:cNvCxnSpPr>
              <a:stCxn id="29" idx="1"/>
              <a:endCxn id="30" idx="1"/>
            </p:cNvCxnSpPr>
            <p:nvPr/>
          </p:nvCxnSpPr>
          <p:spPr>
            <a:xfrm rot="10800000" flipV="1">
              <a:off x="6448426" y="2102643"/>
              <a:ext cx="12700" cy="1572225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9AE36466-0996-33E7-CEF3-D18D1377D6DD}"/>
              </a:ext>
            </a:extLst>
          </p:cNvPr>
          <p:cNvGrpSpPr/>
          <p:nvPr/>
        </p:nvGrpSpPr>
        <p:grpSpPr>
          <a:xfrm>
            <a:off x="6447096" y="2321794"/>
            <a:ext cx="5170264" cy="1898525"/>
            <a:chOff x="6447096" y="2321794"/>
            <a:chExt cx="5170264" cy="1898525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4B9788E-1E40-671D-A023-FAD06DAC63F0}"/>
                </a:ext>
              </a:extLst>
            </p:cNvPr>
            <p:cNvSpPr/>
            <p:nvPr/>
          </p:nvSpPr>
          <p:spPr>
            <a:xfrm>
              <a:off x="6447096" y="2321794"/>
              <a:ext cx="5170264" cy="10552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28E56202-0B99-FE73-DEE1-5E02117385D6}"/>
                </a:ext>
              </a:extLst>
            </p:cNvPr>
            <p:cNvSpPr txBox="1"/>
            <p:nvPr/>
          </p:nvSpPr>
          <p:spPr>
            <a:xfrm>
              <a:off x="6461126" y="3850987"/>
              <a:ext cx="3566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掛起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Sender_2_Task 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，並開始排程</a:t>
              </a:r>
            </a:p>
          </p:txBody>
        </p:sp>
        <p:cxnSp>
          <p:nvCxnSpPr>
            <p:cNvPr id="37" name="接點: 弧形 36">
              <a:extLst>
                <a:ext uri="{FF2B5EF4-FFF2-40B4-BE49-F238E27FC236}">
                  <a16:creationId xmlns:a16="http://schemas.microsoft.com/office/drawing/2014/main" id="{43F97768-4F01-244E-C904-D4EC013FABBA}"/>
                </a:ext>
              </a:extLst>
            </p:cNvPr>
            <p:cNvCxnSpPr>
              <a:stCxn id="34" idx="1"/>
              <a:endCxn id="35" idx="1"/>
            </p:cNvCxnSpPr>
            <p:nvPr/>
          </p:nvCxnSpPr>
          <p:spPr>
            <a:xfrm rot="10800000" flipH="1" flipV="1">
              <a:off x="6447096" y="2849419"/>
              <a:ext cx="14030" cy="1186234"/>
            </a:xfrm>
            <a:prstGeom prst="curvedConnector3">
              <a:avLst>
                <a:gd name="adj1" fmla="val -1629366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497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3E935C-353F-BFC1-982C-3AEDFBFA6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Sender_1_task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7C10CBB-2310-66A4-D63C-B49BE0AC6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78" y="1301733"/>
            <a:ext cx="6183777" cy="3085540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5F5758BB-DB88-4856-EBE7-F7164A31190F}"/>
              </a:ext>
            </a:extLst>
          </p:cNvPr>
          <p:cNvGrpSpPr/>
          <p:nvPr/>
        </p:nvGrpSpPr>
        <p:grpSpPr>
          <a:xfrm>
            <a:off x="822037" y="1228437"/>
            <a:ext cx="5076797" cy="414626"/>
            <a:chOff x="822037" y="1228437"/>
            <a:chExt cx="5076797" cy="41462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78804CB-6E05-D597-2B0B-37F62B666F9E}"/>
                </a:ext>
              </a:extLst>
            </p:cNvPr>
            <p:cNvSpPr/>
            <p:nvPr/>
          </p:nvSpPr>
          <p:spPr>
            <a:xfrm>
              <a:off x="822037" y="1228437"/>
              <a:ext cx="2414082" cy="4146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8AAB3EB-3D06-C252-4227-B91C27AB19E9}"/>
                </a:ext>
              </a:extLst>
            </p:cNvPr>
            <p:cNvSpPr txBox="1"/>
            <p:nvPr/>
          </p:nvSpPr>
          <p:spPr>
            <a:xfrm>
              <a:off x="3766519" y="1252914"/>
              <a:ext cx="21323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紀錄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Queue 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狀態</a:t>
              </a:r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5B9002B1-FE66-36B0-CAC0-BCAA64C9B23F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3236119" y="1435750"/>
              <a:ext cx="530400" cy="183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F896A8B9-0545-5295-CC75-26F1780DB5B4}"/>
              </a:ext>
            </a:extLst>
          </p:cNvPr>
          <p:cNvGrpSpPr/>
          <p:nvPr/>
        </p:nvGrpSpPr>
        <p:grpSpPr>
          <a:xfrm>
            <a:off x="822037" y="1691882"/>
            <a:ext cx="5520828" cy="414626"/>
            <a:chOff x="822037" y="1228437"/>
            <a:chExt cx="5520828" cy="41462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553118B-634B-3B68-27A9-9763033BCF0D}"/>
                </a:ext>
              </a:extLst>
            </p:cNvPr>
            <p:cNvSpPr/>
            <p:nvPr/>
          </p:nvSpPr>
          <p:spPr>
            <a:xfrm>
              <a:off x="822037" y="1228437"/>
              <a:ext cx="2414082" cy="4146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7436F340-1E20-93D6-E007-5B66641A7966}"/>
                </a:ext>
              </a:extLst>
            </p:cNvPr>
            <p:cNvSpPr txBox="1"/>
            <p:nvPr/>
          </p:nvSpPr>
          <p:spPr>
            <a:xfrm>
              <a:off x="3766519" y="1252914"/>
              <a:ext cx="2576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傳入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Queue 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之計數值</a:t>
              </a:r>
            </a:p>
          </p:txBody>
        </p: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95F22A49-40ED-F6CE-0366-8C88BB7222CD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>
              <a:off x="3236119" y="1435750"/>
              <a:ext cx="530400" cy="183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A284D22B-4B42-4135-9676-BA399EAA0C16}"/>
              </a:ext>
            </a:extLst>
          </p:cNvPr>
          <p:cNvGrpSpPr/>
          <p:nvPr/>
        </p:nvGrpSpPr>
        <p:grpSpPr>
          <a:xfrm>
            <a:off x="822037" y="2163336"/>
            <a:ext cx="6386450" cy="831324"/>
            <a:chOff x="822037" y="1228437"/>
            <a:chExt cx="6386450" cy="831324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8B5F5FD-3835-0DF8-61F3-D9C3665124C9}"/>
                </a:ext>
              </a:extLst>
            </p:cNvPr>
            <p:cNvSpPr/>
            <p:nvPr/>
          </p:nvSpPr>
          <p:spPr>
            <a:xfrm>
              <a:off x="822037" y="1228437"/>
              <a:ext cx="2414082" cy="83132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D2F7A6A4-288E-50EA-EFB7-5B759795719B}"/>
                </a:ext>
              </a:extLst>
            </p:cNvPr>
            <p:cNvSpPr txBox="1"/>
            <p:nvPr/>
          </p:nvSpPr>
          <p:spPr>
            <a:xfrm>
              <a:off x="3766519" y="1459433"/>
              <a:ext cx="34419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傳入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Queue 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內之值，固定為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#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A88FF557-6C16-9CF7-53E6-E2345458B168}"/>
                </a:ext>
              </a:extLst>
            </p:cNvPr>
            <p:cNvCxnSpPr>
              <a:cxnSpLocks/>
              <a:stCxn id="22" idx="3"/>
              <a:endCxn id="23" idx="1"/>
            </p:cNvCxnSpPr>
            <p:nvPr/>
          </p:nvCxnSpPr>
          <p:spPr>
            <a:xfrm>
              <a:off x="3236119" y="1644099"/>
              <a:ext cx="53040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F9F6C98D-1F2F-C461-AB5F-A23199E58FBF}"/>
              </a:ext>
            </a:extLst>
          </p:cNvPr>
          <p:cNvGrpSpPr/>
          <p:nvPr/>
        </p:nvGrpSpPr>
        <p:grpSpPr>
          <a:xfrm>
            <a:off x="822036" y="3527446"/>
            <a:ext cx="9194999" cy="414626"/>
            <a:chOff x="822036" y="1228437"/>
            <a:chExt cx="9194999" cy="414626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4D2BCCC-268F-08E3-9138-0FB612BE3811}"/>
                </a:ext>
              </a:extLst>
            </p:cNvPr>
            <p:cNvSpPr/>
            <p:nvPr/>
          </p:nvSpPr>
          <p:spPr>
            <a:xfrm>
              <a:off x="822036" y="1228437"/>
              <a:ext cx="5982623" cy="4146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09E65197-ECDC-8C6F-29B1-646132940675}"/>
                </a:ext>
              </a:extLst>
            </p:cNvPr>
            <p:cNvSpPr txBox="1"/>
            <p:nvPr/>
          </p:nvSpPr>
          <p:spPr>
            <a:xfrm>
              <a:off x="7697169" y="1246209"/>
              <a:ext cx="2319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允許最大等待時間</a:t>
              </a:r>
            </a:p>
          </p:txBody>
        </p: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7A146F31-3893-BF7D-59DB-8E256E175C5E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 flipV="1">
              <a:off x="6804659" y="1430875"/>
              <a:ext cx="892510" cy="487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4353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C2B590-D6DF-7CB8-9D85-6EDEB90F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Sender_1_task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2F2C7CB-D2F6-91D4-CFBD-234560A70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78" y="773265"/>
            <a:ext cx="5595243" cy="5753511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607F88E9-12C5-F77D-27F6-4B22FEAD3A97}"/>
              </a:ext>
            </a:extLst>
          </p:cNvPr>
          <p:cNvGrpSpPr/>
          <p:nvPr/>
        </p:nvGrpSpPr>
        <p:grpSpPr>
          <a:xfrm>
            <a:off x="1082387" y="2062604"/>
            <a:ext cx="9076455" cy="646331"/>
            <a:chOff x="822037" y="1040359"/>
            <a:chExt cx="9076455" cy="64633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360B107-6D0D-94CA-341E-61878995CFCA}"/>
                </a:ext>
              </a:extLst>
            </p:cNvPr>
            <p:cNvSpPr/>
            <p:nvPr/>
          </p:nvSpPr>
          <p:spPr>
            <a:xfrm>
              <a:off x="822037" y="1228437"/>
              <a:ext cx="5263134" cy="2702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2A696645-D949-E249-5782-B6C43CA22DB0}"/>
                </a:ext>
              </a:extLst>
            </p:cNvPr>
            <p:cNvSpPr txBox="1"/>
            <p:nvPr/>
          </p:nvSpPr>
          <p:spPr>
            <a:xfrm>
              <a:off x="7163769" y="1040359"/>
              <a:ext cx="27347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從最頭傳入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Queue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若成功會回傳 </a:t>
              </a:r>
              <a:r>
                <a:rPr lang="en-US" altLang="zh-TW" dirty="0" err="1">
                  <a:latin typeface="Times New Roman" panose="02020603050405020304" pitchFamily="18" charset="0"/>
                  <a:ea typeface="標楷體" panose="03000509000000000000" pitchFamily="65" charset="-120"/>
                </a:rPr>
                <a:t>pdPASS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D304C6D4-CC7D-C1A7-55FF-67690F768708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 flipV="1">
              <a:off x="6085171" y="1363525"/>
              <a:ext cx="1078598" cy="4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6044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189F11DC-9BF3-CC97-04F4-4732DAA3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78" y="860660"/>
            <a:ext cx="5745384" cy="543854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75DC91C-CCF6-921B-ED61-8B206FD08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Sender_2_task</a:t>
            </a:r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07B434E4-E35B-1938-1BC2-43DF5F784AC0}"/>
              </a:ext>
            </a:extLst>
          </p:cNvPr>
          <p:cNvGrpSpPr/>
          <p:nvPr/>
        </p:nvGrpSpPr>
        <p:grpSpPr>
          <a:xfrm>
            <a:off x="1100860" y="1813222"/>
            <a:ext cx="9398979" cy="646331"/>
            <a:chOff x="822037" y="1040359"/>
            <a:chExt cx="9398979" cy="64633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00A6923-2D0C-7D6C-9DF5-65BE35D3473F}"/>
                </a:ext>
              </a:extLst>
            </p:cNvPr>
            <p:cNvSpPr/>
            <p:nvPr/>
          </p:nvSpPr>
          <p:spPr>
            <a:xfrm>
              <a:off x="822037" y="1228437"/>
              <a:ext cx="5263134" cy="2702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02697F2-DB4D-D3D2-10BB-3DD44B6153D3}"/>
                </a:ext>
              </a:extLst>
            </p:cNvPr>
            <p:cNvSpPr txBox="1"/>
            <p:nvPr/>
          </p:nvSpPr>
          <p:spPr>
            <a:xfrm>
              <a:off x="7163769" y="1040359"/>
              <a:ext cx="3057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取得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Queue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 內的值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(FIFO)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若成功會回傳 </a:t>
              </a:r>
              <a:r>
                <a:rPr lang="en-US" altLang="zh-TW" dirty="0" err="1">
                  <a:latin typeface="Times New Roman" panose="02020603050405020304" pitchFamily="18" charset="0"/>
                  <a:ea typeface="標楷體" panose="03000509000000000000" pitchFamily="65" charset="-120"/>
                </a:rPr>
                <a:t>pdPASS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26996A6B-24E3-5A46-27AA-DA14C0DFB30F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 flipV="1">
              <a:off x="6085171" y="1363525"/>
              <a:ext cx="1078598" cy="4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8925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DEEDE9-279C-EADD-5958-4EAE8249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Receiver_task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53E7679-D213-296B-AA71-4E1FC646C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77" y="1017017"/>
            <a:ext cx="5530261" cy="4340074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E903758F-9101-CA96-8BFC-34970C0932F4}"/>
              </a:ext>
            </a:extLst>
          </p:cNvPr>
          <p:cNvGrpSpPr/>
          <p:nvPr/>
        </p:nvGrpSpPr>
        <p:grpSpPr>
          <a:xfrm>
            <a:off x="904691" y="1146787"/>
            <a:ext cx="9076455" cy="646331"/>
            <a:chOff x="822037" y="1040359"/>
            <a:chExt cx="9076455" cy="64633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CE7D64A-3B81-DB45-CC63-CFF65D1D2D40}"/>
                </a:ext>
              </a:extLst>
            </p:cNvPr>
            <p:cNvSpPr/>
            <p:nvPr/>
          </p:nvSpPr>
          <p:spPr>
            <a:xfrm>
              <a:off x="822037" y="1228437"/>
              <a:ext cx="5263134" cy="2702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0FF1965-2DEB-2650-4618-88222D4D3455}"/>
                </a:ext>
              </a:extLst>
            </p:cNvPr>
            <p:cNvSpPr txBox="1"/>
            <p:nvPr/>
          </p:nvSpPr>
          <p:spPr>
            <a:xfrm>
              <a:off x="7163769" y="1040359"/>
              <a:ext cx="27347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從最頭傳入 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Queue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若成功會回傳 </a:t>
              </a:r>
              <a:r>
                <a:rPr lang="en-US" altLang="zh-TW" dirty="0" err="1">
                  <a:latin typeface="Times New Roman" panose="02020603050405020304" pitchFamily="18" charset="0"/>
                  <a:ea typeface="標楷體" panose="03000509000000000000" pitchFamily="65" charset="-120"/>
                </a:rPr>
                <a:t>pdPASS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B5A32BD4-690C-D948-E4A2-640D7009E0DD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 flipV="1">
              <a:off x="6085171" y="1363525"/>
              <a:ext cx="1078598" cy="4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367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3E80EA50-BC9C-4E1B-7846-A184F00DF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17D5C3F-7618-17DB-5788-989F363B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實驗與驗證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8656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78E1EF-2F58-D833-92BA-D309F9A7A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Video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007AF10-F8FD-53F0-AEAA-D11858ED6271}"/>
              </a:ext>
            </a:extLst>
          </p:cNvPr>
          <p:cNvSpPr txBox="1"/>
          <p:nvPr/>
        </p:nvSpPr>
        <p:spPr>
          <a:xfrm>
            <a:off x="750278" y="1095375"/>
            <a:ext cx="3313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hlinkClick r:id="rId2"/>
              </a:rPr>
              <a:t>https://youtu.be/-m6mSneZxjg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7470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7879</TotalTime>
  <Words>606</Words>
  <Application>Microsoft Office PowerPoint</Application>
  <PresentationFormat>寬螢幕</PresentationFormat>
  <Paragraphs>106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8" baseType="lpstr">
      <vt:lpstr>標楷體</vt:lpstr>
      <vt:lpstr>Arial</vt:lpstr>
      <vt:lpstr>Times New Roman</vt:lpstr>
      <vt:lpstr>Office 佈景主題</vt:lpstr>
      <vt:lpstr>作業系統 期末報告 </vt:lpstr>
      <vt:lpstr>　目錄</vt:lpstr>
      <vt:lpstr>簡介</vt:lpstr>
      <vt:lpstr> 簡介</vt:lpstr>
      <vt:lpstr>Free RTOS 操作</vt:lpstr>
      <vt:lpstr> 環境建置</vt:lpstr>
      <vt:lpstr> 環境建置</vt:lpstr>
      <vt:lpstr> 移植</vt:lpstr>
      <vt:lpstr> 移植</vt:lpstr>
      <vt:lpstr> 移植</vt:lpstr>
      <vt:lpstr> 移植</vt:lpstr>
      <vt:lpstr> Task 需求</vt:lpstr>
      <vt:lpstr>系統實作、流程與架構</vt:lpstr>
      <vt:lpstr> 系統流程圖</vt:lpstr>
      <vt:lpstr> 系統流程圖</vt:lpstr>
      <vt:lpstr>FreeRTOSConfig.h </vt:lpstr>
      <vt:lpstr>Task Setup</vt:lpstr>
      <vt:lpstr>Task Setup</vt:lpstr>
      <vt:lpstr>Sender_1_task</vt:lpstr>
      <vt:lpstr>Sender_1_task</vt:lpstr>
      <vt:lpstr>Sender_2_task</vt:lpstr>
      <vt:lpstr>Receiver_task</vt:lpstr>
      <vt:lpstr>實驗與驗證</vt:lpstr>
      <vt:lpstr>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書俊 黃</dc:creator>
  <cp:lastModifiedBy>書俊 黃</cp:lastModifiedBy>
  <cp:revision>8</cp:revision>
  <dcterms:created xsi:type="dcterms:W3CDTF">2024-07-31T21:31:32Z</dcterms:created>
  <dcterms:modified xsi:type="dcterms:W3CDTF">2024-08-08T18:40:53Z</dcterms:modified>
</cp:coreProperties>
</file>