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7" r:id="rId9"/>
    <p:sldId id="261" r:id="rId10"/>
    <p:sldId id="262" r:id="rId11"/>
    <p:sldId id="263" r:id="rId12"/>
    <p:sldId id="264" r:id="rId13"/>
    <p:sldId id="266" r:id="rId14"/>
    <p:sldId id="268" r:id="rId15"/>
    <p:sldId id="265" r:id="rId16"/>
    <p:sldId id="269" r:id="rId17"/>
    <p:sldId id="280" r:id="rId18"/>
    <p:sldId id="272" r:id="rId19"/>
    <p:sldId id="276" r:id="rId20"/>
    <p:sldId id="277" r:id="rId21"/>
    <p:sldId id="278" r:id="rId22"/>
    <p:sldId id="273" r:id="rId23"/>
    <p:sldId id="279" r:id="rId24"/>
    <p:sldId id="283" r:id="rId25"/>
    <p:sldId id="284" r:id="rId26"/>
    <p:sldId id="274" r:id="rId27"/>
    <p:sldId id="281" r:id="rId28"/>
    <p:sldId id="282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5305" y="1953575"/>
            <a:ext cx="8801385" cy="1935967"/>
          </a:xfrm>
        </p:spPr>
        <p:txBody>
          <a:bodyPr anchor="b">
            <a:norm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4800" kern="1200" baseline="0" dirty="0">
                <a:solidFill>
                  <a:srgbClr val="044875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</a:lstStyle>
          <a:p>
            <a:r>
              <a:rPr lang="zh-TW" altLang="en-US" dirty="0"/>
              <a:t>按一下以編輯標題樣式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305" y="4276478"/>
            <a:ext cx="8801383" cy="602673"/>
          </a:xfrm>
        </p:spPr>
        <p:txBody>
          <a:bodyPr>
            <a:normAutofit/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lang="en-US" altLang="en-US" sz="2800" kern="1200" dirty="0">
                <a:solidFill>
                  <a:srgbClr val="044875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42EF64-848E-4536-98FC-BF38BCBD1EC2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 dirty="0"/>
          </a:p>
        </p:txBody>
      </p:sp>
      <p:grpSp>
        <p:nvGrpSpPr>
          <p:cNvPr id="7" name="组合 58">
            <a:extLst>
              <a:ext uri="{FF2B5EF4-FFF2-40B4-BE49-F238E27FC236}">
                <a16:creationId xmlns:a16="http://schemas.microsoft.com/office/drawing/2014/main" id="{F00B2AD5-78A5-4EFA-8EAC-B3DD01A5E6A0}"/>
              </a:ext>
            </a:extLst>
          </p:cNvPr>
          <p:cNvGrpSpPr>
            <a:grpSpLocks/>
          </p:cNvGrpSpPr>
          <p:nvPr/>
        </p:nvGrpSpPr>
        <p:grpSpPr bwMode="auto">
          <a:xfrm>
            <a:off x="1695306" y="3889541"/>
            <a:ext cx="8801385" cy="361950"/>
            <a:chOff x="4154888" y="3453573"/>
            <a:chExt cx="3846874" cy="361046"/>
          </a:xfrm>
        </p:grpSpPr>
        <p:cxnSp>
          <p:nvCxnSpPr>
            <p:cNvPr id="8" name="直接连接符 20">
              <a:extLst>
                <a:ext uri="{FF2B5EF4-FFF2-40B4-BE49-F238E27FC236}">
                  <a16:creationId xmlns:a16="http://schemas.microsoft.com/office/drawing/2014/main" id="{42148983-8062-46F6-9A7D-5946D2AA64C5}"/>
                </a:ext>
              </a:extLst>
            </p:cNvPr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1C706508-E280-424A-A54E-0BBA110F5F04}"/>
                </a:ext>
              </a:extLst>
            </p:cNvPr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EB71921-97EC-4848-BB58-91A011B821A0}"/>
              </a:ext>
            </a:extLst>
          </p:cNvPr>
          <p:cNvGrpSpPr/>
          <p:nvPr/>
        </p:nvGrpSpPr>
        <p:grpSpPr>
          <a:xfrm>
            <a:off x="86373" y="949045"/>
            <a:ext cx="12029508" cy="4959929"/>
            <a:chOff x="792163" y="1462088"/>
            <a:chExt cx="8602897" cy="399415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6CC4430-B42F-4319-9B43-CA65A21C47B5}"/>
                </a:ext>
              </a:extLst>
            </p:cNvPr>
            <p:cNvSpPr/>
            <p:nvPr/>
          </p:nvSpPr>
          <p:spPr>
            <a:xfrm>
              <a:off x="1588446" y="2264222"/>
              <a:ext cx="7002994" cy="2382838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2" name="组合 42">
              <a:extLst>
                <a:ext uri="{FF2B5EF4-FFF2-40B4-BE49-F238E27FC236}">
                  <a16:creationId xmlns:a16="http://schemas.microsoft.com/office/drawing/2014/main" id="{030337B4-CBE2-4433-BCDB-7F08C9D70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5423" y="4325938"/>
              <a:ext cx="1109637" cy="1130300"/>
              <a:chOff x="663165" y="682103"/>
              <a:chExt cx="1109112" cy="1131217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FD40A8B-4B29-4887-ADDF-9C41DED0E3A1}"/>
                  </a:ext>
                </a:extLst>
              </p:cNvPr>
              <p:cNvSpPr/>
              <p:nvPr/>
            </p:nvSpPr>
            <p:spPr>
              <a:xfrm>
                <a:off x="837684" y="858458"/>
                <a:ext cx="769574" cy="768973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12F1383-F1F2-4ED7-A146-6461D7D339B7}"/>
                  </a:ext>
                </a:extLst>
              </p:cNvPr>
              <p:cNvSpPr/>
              <p:nvPr/>
            </p:nvSpPr>
            <p:spPr>
              <a:xfrm>
                <a:off x="663165" y="682103"/>
                <a:ext cx="558536" cy="55925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EB3412D-81A0-498A-8F3C-B7A8795145A1}"/>
                  </a:ext>
                </a:extLst>
              </p:cNvPr>
              <p:cNvSpPr/>
              <p:nvPr/>
            </p:nvSpPr>
            <p:spPr>
              <a:xfrm>
                <a:off x="1213741" y="1254067"/>
                <a:ext cx="558536" cy="55925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3" name="组合 43">
              <a:extLst>
                <a:ext uri="{FF2B5EF4-FFF2-40B4-BE49-F238E27FC236}">
                  <a16:creationId xmlns:a16="http://schemas.microsoft.com/office/drawing/2014/main" id="{CAB3695B-1D5B-46C8-A2AC-830ADCD484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163" y="1462088"/>
              <a:ext cx="1109662" cy="1131887"/>
              <a:chOff x="2666985" y="682103"/>
              <a:chExt cx="1109138" cy="1131217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923825D-D08D-4F4B-B1AA-0F2A041164FA}"/>
                  </a:ext>
                </a:extLst>
              </p:cNvPr>
              <p:cNvSpPr/>
              <p:nvPr/>
            </p:nvSpPr>
            <p:spPr>
              <a:xfrm>
                <a:off x="2841528" y="858211"/>
                <a:ext cx="769573" cy="769482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6FEA19C-EDE2-4E23-90D0-E5764960B386}"/>
                  </a:ext>
                </a:extLst>
              </p:cNvPr>
              <p:cNvSpPr/>
              <p:nvPr/>
            </p:nvSpPr>
            <p:spPr>
              <a:xfrm>
                <a:off x="2666985" y="682103"/>
                <a:ext cx="558536" cy="558469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58263A-2C8B-4AA0-A7D5-4F5F072BDD55}"/>
                  </a:ext>
                </a:extLst>
              </p:cNvPr>
              <p:cNvSpPr/>
              <p:nvPr/>
            </p:nvSpPr>
            <p:spPr>
              <a:xfrm>
                <a:off x="3217587" y="1254851"/>
                <a:ext cx="558536" cy="558469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A206BC9-4141-45A5-8246-C478940F7E9A}"/>
              </a:ext>
            </a:extLst>
          </p:cNvPr>
          <p:cNvSpPr/>
          <p:nvPr/>
        </p:nvSpPr>
        <p:spPr>
          <a:xfrm>
            <a:off x="0" y="0"/>
            <a:ext cx="12192000" cy="492919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F800BC8B-2368-42D3-9EFA-4BB86BE589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808413" y="6557520"/>
            <a:ext cx="376311" cy="30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2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8" y="49065"/>
            <a:ext cx="4692641" cy="648000"/>
          </a:xfrm>
        </p:spPr>
        <p:txBody>
          <a:bodyPr>
            <a:noAutofit/>
          </a:bodyPr>
          <a:lstStyle>
            <a:lvl1pPr>
              <a:defRPr lang="en-US" altLang="en-US" sz="3200" kern="1200" baseline="0" dirty="0">
                <a:solidFill>
                  <a:srgbClr val="044875"/>
                </a:solidFill>
                <a:latin typeface="Times New Roman" panose="02020603050405020304" pitchFamily="18" charset="0"/>
                <a:ea typeface="標楷體"/>
                <a:cs typeface="+mn-cs"/>
              </a:defRPr>
            </a:lvl1pPr>
          </a:lstStyle>
          <a:p>
            <a:pPr lvl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53331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BFB97F-57BA-4CAE-AC1F-9A77A5BB5657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94AE3F-120F-4D03-9467-47751CA222F6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8F899C-2739-4DD8-B8A2-57E1ECE45745}"/>
              </a:ext>
            </a:extLst>
          </p:cNvPr>
          <p:cNvSpPr/>
          <p:nvPr/>
        </p:nvSpPr>
        <p:spPr>
          <a:xfrm>
            <a:off x="5442919" y="254002"/>
            <a:ext cx="6749082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992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8" y="49065"/>
            <a:ext cx="6407906" cy="648000"/>
          </a:xfrm>
        </p:spPr>
        <p:txBody>
          <a:bodyPr>
            <a:noAutofit/>
          </a:bodyPr>
          <a:lstStyle>
            <a:lvl1pPr>
              <a:defRPr lang="en-US" altLang="en-US" sz="3200" kern="1200" baseline="0" dirty="0">
                <a:solidFill>
                  <a:srgbClr val="044875"/>
                </a:solidFill>
                <a:latin typeface="Times New Roman" panose="02020603050405020304" pitchFamily="18" charset="0"/>
                <a:ea typeface="標楷體"/>
                <a:cs typeface="+mn-cs"/>
              </a:defRPr>
            </a:lvl1pPr>
          </a:lstStyle>
          <a:p>
            <a:pPr lvl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53331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FD583F-3D3D-4333-857E-CB99608453A0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C940B0-0CC8-4352-A3C2-733A7C5B8A9A}"/>
              </a:ext>
            </a:extLst>
          </p:cNvPr>
          <p:cNvSpPr/>
          <p:nvPr/>
        </p:nvSpPr>
        <p:spPr>
          <a:xfrm>
            <a:off x="7158185" y="254002"/>
            <a:ext cx="5033818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solidFill>
                <a:prstClr val="white"/>
              </a:solidFill>
              <a:latin typeface="Times New Roman"/>
              <a:ea typeface="標楷體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F2662E-AEFD-40C0-8202-6D6FEB522B3B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8731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61FB8D0-30DD-440C-A53C-CF662D6739E5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5AB5AE-D71F-426C-894C-18B8FC2ECF2E}"/>
              </a:ext>
            </a:extLst>
          </p:cNvPr>
          <p:cNvSpPr/>
          <p:nvPr/>
        </p:nvSpPr>
        <p:spPr>
          <a:xfrm>
            <a:off x="1" y="2014540"/>
            <a:ext cx="12191999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44A2A8-D4B5-4E39-B1B5-565B633733D6}"/>
              </a:ext>
            </a:extLst>
          </p:cNvPr>
          <p:cNvSpPr/>
          <p:nvPr/>
        </p:nvSpPr>
        <p:spPr>
          <a:xfrm>
            <a:off x="1" y="2663825"/>
            <a:ext cx="1350107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AC4CC8-F06E-4A26-8CEC-2DD79BAD8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15" y="2638432"/>
            <a:ext cx="7033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44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538757-AC83-47DF-9D59-4AEE79EF5D76}"/>
              </a:ext>
            </a:extLst>
          </p:cNvPr>
          <p:cNvSpPr/>
          <p:nvPr/>
        </p:nvSpPr>
        <p:spPr>
          <a:xfrm>
            <a:off x="3075362" y="2663825"/>
            <a:ext cx="9116638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379E7A-8C27-4D6B-9C8C-D5ED62D6A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577" y="2638435"/>
            <a:ext cx="21746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44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4E70EA-372C-4ECB-8C66-12EE0317F3A4}"/>
              </a:ext>
            </a:extLst>
          </p:cNvPr>
          <p:cNvSpPr/>
          <p:nvPr/>
        </p:nvSpPr>
        <p:spPr>
          <a:xfrm>
            <a:off x="1" y="254580"/>
            <a:ext cx="12191999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50109" y="2180725"/>
            <a:ext cx="1725254" cy="1500187"/>
          </a:xfrm>
        </p:spPr>
        <p:txBody>
          <a:bodyPr>
            <a:noAutofit/>
          </a:bodyPr>
          <a:lstStyle>
            <a:lvl1pPr marL="0" indent="0" algn="ctr">
              <a:buNone/>
              <a:defRPr lang="zh-TW" altLang="en-US" sz="11502" b="1" kern="12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08577" y="3389555"/>
            <a:ext cx="9083423" cy="1313880"/>
          </a:xfrm>
        </p:spPr>
        <p:txBody>
          <a:bodyPr anchor="ctr">
            <a:normAutofit/>
          </a:bodyPr>
          <a:lstStyle>
            <a:lvl1pPr algn="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4800" b="1" kern="1200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/>
              <a:t>按一下以編輯標題樣式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95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6" y="49065"/>
            <a:ext cx="4692641" cy="6480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rgbClr val="044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algn="ctr" fontAlgn="base">
              <a:spcAft>
                <a:spcPct val="0"/>
              </a:spcAft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244601"/>
            <a:ext cx="5181600" cy="4932363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244601"/>
            <a:ext cx="5181600" cy="4932363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326DB08C-3415-4492-892A-B6D47BBE6463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A1C34B-CCCA-4AC8-9C30-77AEFBCD8792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1C6B0F-1789-494A-96DF-AE8DE4F351CF}"/>
              </a:ext>
            </a:extLst>
          </p:cNvPr>
          <p:cNvSpPr/>
          <p:nvPr/>
        </p:nvSpPr>
        <p:spPr>
          <a:xfrm>
            <a:off x="5442919" y="254002"/>
            <a:ext cx="6749082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311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6" y="49065"/>
            <a:ext cx="4692641" cy="648000"/>
          </a:xfrm>
        </p:spPr>
        <p:txBody>
          <a:bodyPr>
            <a:noAutofit/>
          </a:bodyPr>
          <a:lstStyle>
            <a:lvl1pPr>
              <a:defRPr lang="en-US" sz="3200" kern="1200" baseline="0" dirty="0">
                <a:solidFill>
                  <a:srgbClr val="044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A77FBFA-5D03-4175-A22D-4098906AB7E9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7A0556-29A9-45D3-8730-43FD30334C7B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F7DAAF-DE7E-4EE2-AB83-C839BDD671E6}"/>
              </a:ext>
            </a:extLst>
          </p:cNvPr>
          <p:cNvSpPr/>
          <p:nvPr/>
        </p:nvSpPr>
        <p:spPr>
          <a:xfrm>
            <a:off x="5442919" y="254002"/>
            <a:ext cx="6749082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911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78" y="49065"/>
            <a:ext cx="4692640" cy="648000"/>
          </a:xfrm>
        </p:spPr>
        <p:txBody>
          <a:bodyPr>
            <a:normAutofit/>
          </a:bodyPr>
          <a:lstStyle>
            <a:lvl1pPr>
              <a:defRPr lang="en-US" sz="3200" kern="1200" baseline="0" dirty="0">
                <a:solidFill>
                  <a:srgbClr val="044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dirty="0"/>
              <a:t>編輯標題樣式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31EDF592-6372-4DC3-A93F-B9F957B55C11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834208-99A7-4EB3-BC1B-FAE95FB938F8}"/>
              </a:ext>
            </a:extLst>
          </p:cNvPr>
          <p:cNvSpPr/>
          <p:nvPr/>
        </p:nvSpPr>
        <p:spPr>
          <a:xfrm>
            <a:off x="0" y="254002"/>
            <a:ext cx="750277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3424BF-44D8-4DE4-BE31-F66B96ED8A3F}"/>
              </a:ext>
            </a:extLst>
          </p:cNvPr>
          <p:cNvSpPr/>
          <p:nvPr/>
        </p:nvSpPr>
        <p:spPr>
          <a:xfrm>
            <a:off x="5442919" y="254002"/>
            <a:ext cx="6749082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553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A406A1A9-AA38-4419-91D5-47F0750911F4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6713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43CEF86-A4FF-494B-B13D-198E00092652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972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dirty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892E3D1-6EBF-4CCE-8D72-C6906D954EFC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40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4E24025-4E8E-4718-AD22-2B8C4AF50474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661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CC2C656F-6EC7-4968-AE50-6BC3626BBC91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2568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3" y="1291833"/>
            <a:ext cx="5157787" cy="823912"/>
          </a:xfrm>
        </p:spPr>
        <p:txBody>
          <a:bodyPr anchor="b"/>
          <a:lstStyle>
            <a:lvl1pPr marL="0" indent="0">
              <a:buNone/>
              <a:defRPr sz="19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71512" indent="0">
              <a:buNone/>
              <a:defRPr sz="1625" b="1"/>
            </a:lvl2pPr>
            <a:lvl3pPr marL="743024" indent="0">
              <a:buNone/>
              <a:defRPr sz="1463" b="1"/>
            </a:lvl3pPr>
            <a:lvl4pPr marL="1114537" indent="0">
              <a:buNone/>
              <a:defRPr sz="1300" b="1"/>
            </a:lvl4pPr>
            <a:lvl5pPr marL="1486048" indent="0">
              <a:buNone/>
              <a:defRPr sz="1300" b="1"/>
            </a:lvl5pPr>
            <a:lvl6pPr marL="1857561" indent="0">
              <a:buNone/>
              <a:defRPr sz="1300" b="1"/>
            </a:lvl6pPr>
            <a:lvl7pPr marL="2229073" indent="0">
              <a:buNone/>
              <a:defRPr sz="1300" b="1"/>
            </a:lvl7pPr>
            <a:lvl8pPr marL="2600585" indent="0">
              <a:buNone/>
              <a:defRPr sz="1300" b="1"/>
            </a:lvl8pPr>
            <a:lvl9pPr marL="2972097" indent="0">
              <a:buNone/>
              <a:defRPr sz="1300" b="1"/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3" y="2115745"/>
            <a:ext cx="5157787" cy="368458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0609" y="1291833"/>
            <a:ext cx="5183188" cy="823912"/>
          </a:xfrm>
        </p:spPr>
        <p:txBody>
          <a:bodyPr anchor="b"/>
          <a:lstStyle>
            <a:lvl1pPr marL="0" indent="0">
              <a:buNone/>
              <a:defRPr sz="19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71512" indent="0">
              <a:buNone/>
              <a:defRPr sz="1625" b="1"/>
            </a:lvl2pPr>
            <a:lvl3pPr marL="743024" indent="0">
              <a:buNone/>
              <a:defRPr sz="1463" b="1"/>
            </a:lvl3pPr>
            <a:lvl4pPr marL="1114537" indent="0">
              <a:buNone/>
              <a:defRPr sz="1300" b="1"/>
            </a:lvl4pPr>
            <a:lvl5pPr marL="1486048" indent="0">
              <a:buNone/>
              <a:defRPr sz="1300" b="1"/>
            </a:lvl5pPr>
            <a:lvl6pPr marL="1857561" indent="0">
              <a:buNone/>
              <a:defRPr sz="1300" b="1"/>
            </a:lvl6pPr>
            <a:lvl7pPr marL="2229073" indent="0">
              <a:buNone/>
              <a:defRPr sz="1300" b="1"/>
            </a:lvl7pPr>
            <a:lvl8pPr marL="2600585" indent="0">
              <a:buNone/>
              <a:defRPr sz="1300" b="1"/>
            </a:lvl8pPr>
            <a:lvl9pPr marL="2972097" indent="0">
              <a:buNone/>
              <a:defRPr sz="1300" b="1"/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0609" y="2115745"/>
            <a:ext cx="5183188" cy="3684588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1" y="6230944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E7BDDAA-0AB1-404B-A106-5DA620776464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1" y="62309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158970D0-A2B3-457F-B682-668FBD0B7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"/>
            <a:ext cx="4257964" cy="735809"/>
          </a:xfrm>
        </p:spPr>
        <p:txBody>
          <a:bodyPr/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600" kern="1200" baseline="0">
                <a:solidFill>
                  <a:srgbClr val="044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lvl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/>
              <a:t>按一下此處編輯標題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673770-605A-4980-9D32-4FCAA343AC67}"/>
              </a:ext>
            </a:extLst>
          </p:cNvPr>
          <p:cNvSpPr/>
          <p:nvPr/>
        </p:nvSpPr>
        <p:spPr>
          <a:xfrm>
            <a:off x="0" y="254002"/>
            <a:ext cx="609600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68E4B6-7420-43AC-B14F-0C6CA6E72011}"/>
              </a:ext>
            </a:extLst>
          </p:cNvPr>
          <p:cNvSpPr/>
          <p:nvPr/>
        </p:nvSpPr>
        <p:spPr>
          <a:xfrm>
            <a:off x="4867564" y="254002"/>
            <a:ext cx="7324436" cy="23812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985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0277" y="49065"/>
            <a:ext cx="10698267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835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2399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ACBC4B9-6004-4ED4-BF24-34C56D698558}" type="datetime1">
              <a:rPr lang="zh-TW" altLang="en-US" smtClean="0"/>
              <a:pPr/>
              <a:t>2025/3/1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2399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9404" y="6492876"/>
            <a:ext cx="1127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65907939-1B86-4758-9600-54584BD4B2F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BA3492-A1E5-4469-8F13-A25867583551}"/>
              </a:ext>
            </a:extLst>
          </p:cNvPr>
          <p:cNvSpPr/>
          <p:nvPr/>
        </p:nvSpPr>
        <p:spPr>
          <a:xfrm>
            <a:off x="11566526" y="6621471"/>
            <a:ext cx="625474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76EED4-44F8-4646-BFF6-6D901C406096}"/>
              </a:ext>
            </a:extLst>
          </p:cNvPr>
          <p:cNvSpPr/>
          <p:nvPr/>
        </p:nvSpPr>
        <p:spPr>
          <a:xfrm>
            <a:off x="3" y="6621469"/>
            <a:ext cx="10439401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587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rtos.org/a00104.html" TargetMode="External"/><Relationship Id="rId2" Type="http://schemas.openxmlformats.org/officeDocument/2006/relationships/hyperlink" Target="https://www.freertos.org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3D9518-21DD-B6F5-D2EF-65AC611FD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RTOS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9A46EE-1217-0132-D8F0-00A37FC3E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2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0DF62A-5527-09E6-0DF3-E5D20807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32CC8A-8019-F848-DF52-3EB6C20E7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基本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中斷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en-US" altLang="zh-TW" sz="2800" dirty="0"/>
              <a:t>Timer</a:t>
            </a:r>
          </a:p>
          <a:p>
            <a:pPr>
              <a:lnSpc>
                <a:spcPct val="150000"/>
              </a:lnSpc>
            </a:pPr>
            <a:r>
              <a:rPr lang="zh-TW" altLang="en-US" sz="2800" dirty="0"/>
              <a:t>佇列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61AB03-26FD-1795-404F-40487617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593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DC6D01-A914-F584-36CE-044AA184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A46806-3631-C3CD-66F8-A3CFC798B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E6ACF597-E0D5-5A7F-73C5-4E312DD7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</a:t>
            </a:r>
          </a:p>
        </p:txBody>
      </p:sp>
    </p:spTree>
    <p:extLst>
      <p:ext uri="{BB962C8B-B14F-4D97-AF65-F5344CB8AC3E}">
        <p14:creationId xmlns:p14="http://schemas.microsoft.com/office/powerpoint/2010/main" val="153383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72DA6-19BE-75CE-A715-FBB78BD8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65E8D3-31D5-B09A-2ADA-B84C59807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altLang="zh-TW" dirty="0"/>
              <a:t>RTOS</a:t>
            </a:r>
            <a:r>
              <a:rPr lang="zh-TW" altLang="en-US" dirty="0"/>
              <a:t>：即時性作業系統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強調即時性，又分為軟即時與硬即時</a:t>
            </a:r>
            <a:endParaRPr lang="en-US" altLang="zh-TW" dirty="0"/>
          </a:p>
          <a:p>
            <a:pPr lvl="1"/>
            <a:r>
              <a:rPr lang="zh-TW" altLang="en-US" dirty="0"/>
              <a:t>軟即時：系統能讓絕大多數任務在確定時間內完成</a:t>
            </a:r>
            <a:endParaRPr lang="en-US" altLang="zh-TW" dirty="0"/>
          </a:p>
          <a:p>
            <a:pPr lvl="1"/>
            <a:r>
              <a:rPr lang="zh-TW" altLang="en-US" dirty="0"/>
              <a:t>硬即時：系統必須使任務在確定的時間內完成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將需要實現的功能劃分為多個任務，並具有可剝奪性</a:t>
            </a:r>
            <a:endParaRPr lang="en-US" altLang="zh-TW" dirty="0"/>
          </a:p>
          <a:p>
            <a:pPr lvl="1"/>
            <a:r>
              <a:rPr lang="zh-TW" altLang="en-US" dirty="0"/>
              <a:t>可剝奪性：</a:t>
            </a:r>
            <a:r>
              <a:rPr lang="en-US" altLang="zh-TW" dirty="0"/>
              <a:t>CPU</a:t>
            </a:r>
            <a:r>
              <a:rPr lang="zh-TW" altLang="en-US" dirty="0"/>
              <a:t> 執行多個任務中優先權最高的那個任務，即使 </a:t>
            </a:r>
            <a:r>
              <a:rPr lang="en-US" altLang="zh-TW" dirty="0"/>
              <a:t>CPU</a:t>
            </a:r>
            <a:r>
              <a:rPr lang="zh-TW" altLang="en-US" dirty="0"/>
              <a:t> 正在執行某個低階任務，當高階任務準備好時，高階任務就會優先</a:t>
            </a:r>
            <a:r>
              <a:rPr lang="zh-TW" altLang="en-US" dirty="0">
                <a:highlight>
                  <a:srgbClr val="FFFF00"/>
                </a:highlight>
              </a:rPr>
              <a:t>搶奪執行權</a:t>
            </a:r>
            <a:endParaRPr lang="en-US" altLang="zh-TW" dirty="0">
              <a:highlight>
                <a:srgbClr val="FFFF00"/>
              </a:highlight>
            </a:endParaRPr>
          </a:p>
          <a:p>
            <a:pPr lvl="1"/>
            <a:endParaRPr lang="en-US" altLang="zh-TW" dirty="0">
              <a:highlight>
                <a:srgbClr val="FFFF00"/>
              </a:highlight>
            </a:endParaRPr>
          </a:p>
          <a:p>
            <a:r>
              <a:rPr lang="en-US" altLang="zh-TW" dirty="0" err="1"/>
              <a:t>FreeRTOS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52EE4C-EEED-8579-C42F-AA29763D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580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49C96A-C185-FFCE-D755-AE5498B7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732D96-729D-0C9D-BBF5-A682A81C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0"/>
            <a:ext cx="10515600" cy="5239546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https://www.freertos.org/index.html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Code</a:t>
            </a:r>
            <a:r>
              <a:rPr lang="zh-TW" altLang="en-US" dirty="0"/>
              <a:t>：</a:t>
            </a:r>
            <a:r>
              <a:rPr lang="en-US" altLang="zh-TW" dirty="0">
                <a:hlinkClick r:id="rId3"/>
              </a:rPr>
              <a:t>https://freertos.org/a00104.html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Source </a:t>
            </a:r>
          </a:p>
          <a:p>
            <a:pPr lvl="1"/>
            <a:r>
              <a:rPr lang="en-US" altLang="zh-TW" dirty="0" err="1"/>
              <a:t>task.c</a:t>
            </a:r>
            <a:endParaRPr lang="en-US" altLang="zh-TW" dirty="0"/>
          </a:p>
          <a:p>
            <a:pPr lvl="1"/>
            <a:r>
              <a:rPr lang="en-US" altLang="zh-TW" dirty="0" err="1"/>
              <a:t>queue.c</a:t>
            </a:r>
            <a:endParaRPr lang="en-US" altLang="zh-TW" dirty="0"/>
          </a:p>
          <a:p>
            <a:pPr lvl="1"/>
            <a:r>
              <a:rPr lang="en-US" altLang="zh-TW" dirty="0" err="1"/>
              <a:t>list.c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Hardware</a:t>
            </a:r>
          </a:p>
          <a:p>
            <a:pPr lvl="1"/>
            <a:r>
              <a:rPr lang="en-US" altLang="zh-TW" dirty="0" err="1"/>
              <a:t>portmarco.h</a:t>
            </a:r>
            <a:endParaRPr lang="en-US" altLang="zh-TW" dirty="0"/>
          </a:p>
          <a:p>
            <a:pPr lvl="1"/>
            <a:r>
              <a:rPr lang="en-US" altLang="zh-TW" dirty="0" err="1"/>
              <a:t>port.h</a:t>
            </a:r>
            <a:endParaRPr lang="en-US" altLang="zh-TW" dirty="0"/>
          </a:p>
          <a:p>
            <a:pPr lvl="1"/>
            <a:r>
              <a:rPr lang="en-US" altLang="zh-TW" dirty="0" err="1"/>
              <a:t>FreeRTOSConfig.h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DCDD0F-0775-31CE-81E6-34819E1D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888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0ADFF-BC8A-AF15-334E-99A09F3D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71725E-A759-5F68-AE5D-B1DDB924F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0"/>
            <a:ext cx="10515600" cy="5239545"/>
          </a:xfrm>
        </p:spPr>
        <p:txBody>
          <a:bodyPr/>
          <a:lstStyle/>
          <a:p>
            <a:r>
              <a:rPr lang="zh-TW" altLang="en-US" dirty="0"/>
              <a:t>主要區塊：任務、通訊、硬體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方格：</a:t>
            </a:r>
            <a:endParaRPr lang="en-US" altLang="zh-TW" dirty="0"/>
          </a:p>
          <a:p>
            <a:pPr lvl="1"/>
            <a:r>
              <a:rPr lang="zh-TW" altLang="en-US" dirty="0"/>
              <a:t>運行：正在由 </a:t>
            </a:r>
            <a:r>
              <a:rPr lang="en-US" altLang="zh-TW" dirty="0"/>
              <a:t>CPU </a:t>
            </a:r>
            <a:r>
              <a:rPr lang="zh-TW" altLang="en-US" dirty="0"/>
              <a:t>執行的狀態 </a:t>
            </a:r>
          </a:p>
          <a:p>
            <a:pPr lvl="1"/>
            <a:r>
              <a:rPr lang="zh-TW" altLang="en-US" dirty="0"/>
              <a:t>就緒：準備要執行的下一個狀態 </a:t>
            </a:r>
          </a:p>
          <a:p>
            <a:pPr lvl="1"/>
            <a:r>
              <a:rPr lang="zh-TW" altLang="en-US" dirty="0"/>
              <a:t>阻塞：在等待某個事件的狀態 </a:t>
            </a:r>
          </a:p>
          <a:p>
            <a:pPr lvl="1"/>
            <a:r>
              <a:rPr lang="zh-TW" altLang="en-US" dirty="0"/>
              <a:t>掛起：透過程式 </a:t>
            </a:r>
            <a:r>
              <a:rPr lang="en-US" altLang="zh-TW" dirty="0"/>
              <a:t>API </a:t>
            </a:r>
            <a:r>
              <a:rPr lang="zh-TW" altLang="en-US" dirty="0"/>
              <a:t>要求退出之狀態 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箭頭：</a:t>
            </a:r>
            <a:endParaRPr lang="en-US" altLang="zh-TW" dirty="0"/>
          </a:p>
          <a:p>
            <a:pPr lvl="1"/>
            <a:r>
              <a:rPr lang="en-US" altLang="zh-TW" dirty="0" err="1"/>
              <a:t>Rusume</a:t>
            </a:r>
            <a:r>
              <a:rPr lang="zh-TW" altLang="en-US" dirty="0"/>
              <a:t>：恢復狀態 </a:t>
            </a:r>
          </a:p>
          <a:p>
            <a:pPr lvl="1"/>
            <a:r>
              <a:rPr lang="en-US" altLang="zh-TW" dirty="0"/>
              <a:t>Suspend</a:t>
            </a:r>
            <a:r>
              <a:rPr lang="zh-TW" altLang="en-US" dirty="0"/>
              <a:t>：掛起狀態 </a:t>
            </a:r>
          </a:p>
          <a:p>
            <a:pPr lvl="1"/>
            <a:r>
              <a:rPr lang="en-US" altLang="zh-TW" dirty="0"/>
              <a:t>Event (</a:t>
            </a:r>
            <a:r>
              <a:rPr lang="zh-TW" altLang="en-US" dirty="0"/>
              <a:t>事件</a:t>
            </a:r>
            <a:r>
              <a:rPr lang="en-US" altLang="zh-TW" dirty="0"/>
              <a:t>)</a:t>
            </a:r>
            <a:r>
              <a:rPr lang="zh-TW" altLang="en-US" dirty="0"/>
              <a:t>：等待的事件 </a:t>
            </a:r>
          </a:p>
          <a:p>
            <a:pPr lvl="1"/>
            <a:r>
              <a:rPr lang="zh-TW" altLang="en-US" dirty="0"/>
              <a:t>阻塞函數：需要被等待的事件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F1C2CC-6554-760D-FB95-1CFE7076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pic>
        <p:nvPicPr>
          <p:cNvPr id="2050" name="Picture 2" descr="FreeRTOS-TaskWork">
            <a:extLst>
              <a:ext uri="{FF2B5EF4-FFF2-40B4-BE49-F238E27FC236}">
                <a16:creationId xmlns:a16="http://schemas.microsoft.com/office/drawing/2014/main" id="{55C6565C-9A2F-8CB9-3556-4F542B24C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032" y="2096537"/>
            <a:ext cx="6283313" cy="365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081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023970-8BC8-2692-9E0A-468448CD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0844C3-60EC-B669-8F08-276F01FC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CC37A6CF-F064-32E2-0B15-BF0402BA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0"/>
            <a:ext cx="10515600" cy="5156705"/>
          </a:xfrm>
        </p:spPr>
        <p:txBody>
          <a:bodyPr>
            <a:normAutofit/>
          </a:bodyPr>
          <a:lstStyle/>
          <a:p>
            <a:r>
              <a:rPr lang="zh-TW" altLang="en-US" dirty="0"/>
              <a:t>運行：任務實際正在執行，如果執行 </a:t>
            </a:r>
            <a:r>
              <a:rPr lang="en-US" altLang="zh-TW" dirty="0"/>
              <a:t>RTOS </a:t>
            </a:r>
            <a:r>
              <a:rPr lang="zh-TW" altLang="en-US" dirty="0"/>
              <a:t>的處理器只有一個核心，那麼任何時候都只能有一個任務處於 </a:t>
            </a:r>
            <a:r>
              <a:rPr lang="en-US" altLang="zh-TW" dirty="0"/>
              <a:t>Running </a:t>
            </a:r>
            <a:r>
              <a:rPr lang="zh-TW" altLang="en-US" dirty="0"/>
              <a:t>狀態。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就緒：即將執行的任務 </a:t>
            </a:r>
            <a:r>
              <a:rPr lang="en-US" altLang="zh-TW" dirty="0"/>
              <a:t>(</a:t>
            </a:r>
            <a:r>
              <a:rPr lang="zh-TW" altLang="en-US" dirty="0"/>
              <a:t>它們未處於 </a:t>
            </a:r>
            <a:r>
              <a:rPr lang="en-US" altLang="zh-TW" dirty="0"/>
              <a:t>Blocked </a:t>
            </a:r>
            <a:r>
              <a:rPr lang="zh-TW" altLang="en-US" dirty="0"/>
              <a:t>或 </a:t>
            </a:r>
            <a:r>
              <a:rPr lang="en-US" altLang="zh-TW" dirty="0"/>
              <a:t>Suspend </a:t>
            </a:r>
            <a:r>
              <a:rPr lang="zh-TW" altLang="en-US" dirty="0"/>
              <a:t>狀態</a:t>
            </a:r>
            <a:r>
              <a:rPr lang="en-US" altLang="zh-TW" dirty="0"/>
              <a:t>)</a:t>
            </a:r>
            <a:r>
              <a:rPr lang="zh-TW" altLang="en-US" dirty="0"/>
              <a:t>，但目前尚未執行，因為優先順序相同或更高的其他任務已處於執行狀態。也就是執行權目前被其他任務佔有中。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阻塞：正在等待時間事件 </a:t>
            </a:r>
            <a:r>
              <a:rPr lang="en-US" altLang="zh-TW" dirty="0"/>
              <a:t>(</a:t>
            </a:r>
            <a:r>
              <a:rPr lang="zh-TW" altLang="en-US" dirty="0"/>
              <a:t>與 </a:t>
            </a:r>
            <a:r>
              <a:rPr lang="en-US" altLang="zh-TW" dirty="0" err="1"/>
              <a:t>os</a:t>
            </a:r>
            <a:r>
              <a:rPr lang="en-US" altLang="zh-TW" dirty="0"/>
              <a:t> </a:t>
            </a:r>
            <a:r>
              <a:rPr lang="zh-TW" altLang="en-US" dirty="0"/>
              <a:t>有關的 </a:t>
            </a:r>
            <a:r>
              <a:rPr lang="en-US" altLang="zh-TW" dirty="0"/>
              <a:t>delay) </a:t>
            </a:r>
            <a:r>
              <a:rPr lang="zh-TW" altLang="en-US" dirty="0"/>
              <a:t>或外部事件，處於阻塞狀態的任務不使用任何處理時間，且無法選擇進入執行狀態。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掛起：與</a:t>
            </a:r>
            <a:r>
              <a:rPr lang="en-US" altLang="zh-TW" dirty="0"/>
              <a:t>Blocked </a:t>
            </a:r>
            <a:r>
              <a:rPr lang="zh-TW" altLang="en-US" dirty="0"/>
              <a:t>狀態的任務一樣，無法選擇進入 </a:t>
            </a:r>
            <a:r>
              <a:rPr lang="en-US" altLang="zh-TW" dirty="0"/>
              <a:t>Running </a:t>
            </a:r>
            <a:r>
              <a:rPr lang="zh-TW" altLang="en-US" dirty="0"/>
              <a:t>狀態，但是處於 </a:t>
            </a:r>
            <a:r>
              <a:rPr lang="en-US" altLang="zh-TW" dirty="0"/>
              <a:t>Suspended </a:t>
            </a:r>
            <a:r>
              <a:rPr lang="zh-TW" altLang="en-US" dirty="0"/>
              <a:t>狀態的任務沒有 </a:t>
            </a:r>
            <a:r>
              <a:rPr lang="en-US" altLang="zh-TW" dirty="0"/>
              <a:t>timeout</a:t>
            </a:r>
            <a:r>
              <a:rPr lang="zh-TW" altLang="en-US" dirty="0"/>
              <a:t>。相反，任務只有在透過 </a:t>
            </a:r>
            <a:r>
              <a:rPr lang="en-US" altLang="zh-TW" dirty="0"/>
              <a:t>API </a:t>
            </a:r>
            <a:r>
              <a:rPr lang="zh-TW" altLang="en-US" dirty="0"/>
              <a:t>呼叫明確命令進入或離開 </a:t>
            </a:r>
            <a:r>
              <a:rPr lang="en-US" altLang="zh-TW" dirty="0"/>
              <a:t>Suspended </a:t>
            </a:r>
            <a:r>
              <a:rPr lang="zh-TW" altLang="en-US" dirty="0"/>
              <a:t>狀態時，才會進入或離開 </a:t>
            </a:r>
            <a:r>
              <a:rPr lang="en-US" altLang="zh-TW" dirty="0"/>
              <a:t>Suspended </a:t>
            </a:r>
            <a:r>
              <a:rPr lang="zh-TW" altLang="en-US" dirty="0"/>
              <a:t>狀態。</a:t>
            </a:r>
          </a:p>
        </p:txBody>
      </p:sp>
    </p:spTree>
    <p:extLst>
      <p:ext uri="{BB962C8B-B14F-4D97-AF65-F5344CB8AC3E}">
        <p14:creationId xmlns:p14="http://schemas.microsoft.com/office/powerpoint/2010/main" val="378460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A5820F-BC2D-0561-3A6F-6C78859C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D33DF6-E028-87D4-8B68-EF1A43ED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CD7D91E-AAA1-55A8-90A4-B1B32D768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105" y="1003646"/>
            <a:ext cx="3251870" cy="485070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2A0282F-0DFE-C0C6-F4AB-D866D0580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70" y="1003646"/>
            <a:ext cx="3617889" cy="478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9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A53C1C-7023-772D-A4ED-5880C778E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36D1EE-B394-F307-9ACC-6F61C2DF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版本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介面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1655F9-C675-C9A1-0A1C-17C149B3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E670C2-19CD-77CD-D441-D22AB470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19633"/>
            <a:ext cx="7668695" cy="10574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B451C67-874A-0F2A-C31B-B61E73BC2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552125"/>
            <a:ext cx="11012203" cy="74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1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9392B2-B1DA-39DD-CBEF-57EA1A25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Config parameters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B4C8E9-8F21-E1B8-E927-F53E771FF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Kernel setting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FEE92C-366F-1EB3-1C63-69E2A93C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B095776-4596-3427-5A5D-442E46D2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91" y="1776305"/>
            <a:ext cx="5413961" cy="424580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28F9129-DBAA-7E79-F90B-495B6722D61F}"/>
              </a:ext>
            </a:extLst>
          </p:cNvPr>
          <p:cNvSpPr/>
          <p:nvPr/>
        </p:nvSpPr>
        <p:spPr>
          <a:xfrm>
            <a:off x="1634836" y="2216727"/>
            <a:ext cx="4743715" cy="2401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0299A56-CBAE-4D74-DAE3-7A3DC8D0B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796" y="1804319"/>
            <a:ext cx="2286319" cy="130510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CC6D60DD-99CE-E97F-0ED9-5E1B6F95CA7E}"/>
              </a:ext>
            </a:extLst>
          </p:cNvPr>
          <p:cNvSpPr/>
          <p:nvPr/>
        </p:nvSpPr>
        <p:spPr>
          <a:xfrm>
            <a:off x="6462135" y="2199259"/>
            <a:ext cx="500164" cy="275336"/>
          </a:xfrm>
          <a:prstGeom prst="rightArrow">
            <a:avLst>
              <a:gd name="adj1" fmla="val 37421"/>
              <a:gd name="adj2" fmla="val 4685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9F98368-358E-6D4D-00C1-F03EFD36BCDA}"/>
              </a:ext>
            </a:extLst>
          </p:cNvPr>
          <p:cNvSpPr txBox="1"/>
          <p:nvPr/>
        </p:nvSpPr>
        <p:spPr>
          <a:xfrm>
            <a:off x="6462135" y="1776304"/>
            <a:ext cx="57298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TICK_RATE_HZ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RTOS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系統節拍中斷的頻率，單位為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HZ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MAX_PRIORITIES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：可使用的最大優先權數量。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MINIMAL_STACK_SIZE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：設定空閒任務的最小任務堆疊大小，以字為單位，而不是位元組。如該值設定為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128Words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，那麼真正的堆疊大小就是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128*4 = 512 Byte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9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  <p:bldP spid="10" grpId="1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35C2B-4386-F4F4-6977-E67E196F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Config parameters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8E10B5-0200-179F-DB4A-B775F7DB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Memory management setting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ED5D2E-353E-902B-35B8-65A0249B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34CD7C6-8E20-A35F-B37D-64166FCE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51288"/>
            <a:ext cx="5055140" cy="80274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9998A18-B9E0-77F3-9C1A-4E8449A3F291}"/>
              </a:ext>
            </a:extLst>
          </p:cNvPr>
          <p:cNvSpPr txBox="1"/>
          <p:nvPr/>
        </p:nvSpPr>
        <p:spPr>
          <a:xfrm>
            <a:off x="838200" y="3404268"/>
            <a:ext cx="97928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Allocation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Dynamic/Static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支援動態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靜態記憶體申請 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TOTAL_HEAP_SIZE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：設定堆大小，如果使用了動態記憶體管理，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FreeRTOS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在創建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task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mutex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software timer or semaphore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的時候就會使用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heap_x.c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 x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1~5 )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中的記憶體申請函數來申請記憶體。這些記憶體就是從堆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ucHeap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configTOTAL_HEAP_SIZE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申請的。 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Management scheme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：記憶體管理策略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heap_4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9469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A1FA5F-CAB8-67DD-DE57-6E9BB6CD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Tasks and Queues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6762FA-86BF-BEF7-9458-63EA7852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任務設定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105E01-AC1D-F54E-83B4-CFAD22F8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7DC1434-D2CE-0381-1E15-883FA0FCD2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692"/>
          <a:stretch/>
        </p:blipFill>
        <p:spPr>
          <a:xfrm>
            <a:off x="838199" y="1820664"/>
            <a:ext cx="8868572" cy="1608336"/>
          </a:xfrm>
          <a:prstGeom prst="rect">
            <a:avLst/>
          </a:prstGeom>
        </p:spPr>
      </p:pic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AB261802-7F63-A9DC-50D6-2BEFA44AF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3636818"/>
            <a:ext cx="3411403" cy="285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862BDB4-1580-0AFE-AD4F-2C94246C2C4C}"/>
              </a:ext>
            </a:extLst>
          </p:cNvPr>
          <p:cNvSpPr txBox="1"/>
          <p:nvPr/>
        </p:nvSpPr>
        <p:spPr>
          <a:xfrm>
            <a:off x="4629150" y="3636818"/>
            <a:ext cx="3411402" cy="23083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Priority</a:t>
            </a:r>
            <a:r>
              <a:rPr lang="zh-TW" altLang="en-US" dirty="0"/>
              <a:t>：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osPriorityIdle</a:t>
            </a:r>
            <a:r>
              <a:rPr lang="zh-TW" altLang="en-US" dirty="0"/>
              <a:t>：</a:t>
            </a:r>
            <a:r>
              <a:rPr lang="en-US" altLang="zh-TW" dirty="0"/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osPriorityLow</a:t>
            </a:r>
            <a:r>
              <a:rPr lang="zh-TW" altLang="en-US" dirty="0"/>
              <a:t>：</a:t>
            </a:r>
            <a:r>
              <a:rPr lang="en-US" altLang="zh-TW" dirty="0"/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osPriorityBelowNormal</a:t>
            </a:r>
            <a:r>
              <a:rPr lang="zh-TW" altLang="en-US" dirty="0"/>
              <a:t>：</a:t>
            </a:r>
            <a:r>
              <a:rPr lang="en-US" altLang="zh-TW" dirty="0"/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osPriorityNormal</a:t>
            </a:r>
            <a:r>
              <a:rPr lang="zh-TW" altLang="en-US" dirty="0"/>
              <a:t>：</a:t>
            </a:r>
            <a:r>
              <a:rPr lang="en-US" altLang="zh-TW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osPriorityAboveNormal</a:t>
            </a:r>
            <a:r>
              <a:rPr lang="zh-TW" altLang="en-US" dirty="0"/>
              <a:t>：</a:t>
            </a:r>
            <a:r>
              <a:rPr lang="en-US" altLang="zh-TW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osPriorityHigh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osPriorityRealtime</a:t>
            </a:r>
            <a:r>
              <a:rPr lang="zh-TW" altLang="en-US" dirty="0"/>
              <a:t>：</a:t>
            </a:r>
            <a:r>
              <a:rPr lang="en-US" altLang="zh-TW" dirty="0"/>
              <a:t>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2320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E5969-4590-D03F-2BC6-0068DFE8B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任務設計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4956D1-A116-D580-3816-0F4CC087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先有整體流程，再來分割任務，當任務分割完成後，確定每個任務的負責工作與動作；確認完畢後開始劃分優先權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A4C1C-4827-F6BC-2197-81F6BD91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51F9BC7-89AD-36A6-835E-E2B5E7C26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220770"/>
            <a:ext cx="9829602" cy="418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4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B30912-65E3-EAFA-4B11-FC2024F1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任務設計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76D7F6-EA66-293B-8064-E2F1206C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1CBC6-3719-296C-1B80-AFE629FE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43E67B-8B42-7904-B4FE-9C4794FE3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3" y="1302869"/>
            <a:ext cx="11499273" cy="43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51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55087-D368-639E-6E0D-B1216A93E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ADB2C7-8BC6-E576-78A0-0A5A72722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主要：</a:t>
            </a:r>
            <a:r>
              <a:rPr lang="en-US" altLang="zh-TW" dirty="0" err="1"/>
              <a:t>freertos.c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BA0EBE-2D0D-2416-1EAF-490E0720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EB1ABA-0FFF-2CEF-02F3-A9F13DF6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76258"/>
            <a:ext cx="3465837" cy="418467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F78F1B8-7A99-7F95-D199-C69244D6D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32" y="1809597"/>
            <a:ext cx="6564797" cy="435133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B598914-0DF7-05DD-3B3D-960F310A463B}"/>
              </a:ext>
            </a:extLst>
          </p:cNvPr>
          <p:cNvSpPr/>
          <p:nvPr/>
        </p:nvSpPr>
        <p:spPr>
          <a:xfrm>
            <a:off x="5402437" y="5786132"/>
            <a:ext cx="2660475" cy="3479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772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F07F62-4C2D-689D-9B17-91657F6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139CA-5183-FA24-2A00-F09C20986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zh-TW" altLang="en-US" dirty="0"/>
              <a:t>刪除任務：</a:t>
            </a:r>
            <a:r>
              <a:rPr lang="en-US" altLang="zh-TW" dirty="0" err="1"/>
              <a:t>vTaskDelete</a:t>
            </a:r>
            <a:r>
              <a:rPr lang="en-US" altLang="zh-TW" dirty="0"/>
              <a:t>(Task)</a:t>
            </a:r>
          </a:p>
          <a:p>
            <a:endParaRPr lang="en-US" altLang="zh-TW" dirty="0"/>
          </a:p>
          <a:p>
            <a:r>
              <a:rPr lang="zh-TW" altLang="en-US" dirty="0"/>
              <a:t>掛起任務：</a:t>
            </a:r>
            <a:r>
              <a:rPr lang="en-US" altLang="zh-TW" dirty="0" err="1"/>
              <a:t>vTaskSuspend</a:t>
            </a:r>
            <a:r>
              <a:rPr lang="en-US" altLang="zh-TW" dirty="0"/>
              <a:t>(Task</a:t>
            </a:r>
            <a:r>
              <a:rPr lang="zh-TW" altLang="en-US" dirty="0"/>
              <a:t> </a:t>
            </a:r>
            <a:r>
              <a:rPr lang="en-US" altLang="zh-TW" dirty="0"/>
              <a:t>Handle)</a:t>
            </a:r>
          </a:p>
          <a:p>
            <a:endParaRPr lang="en-US" altLang="zh-TW" dirty="0"/>
          </a:p>
          <a:p>
            <a:r>
              <a:rPr lang="zh-TW" altLang="en-US" dirty="0"/>
              <a:t>恢復任務：</a:t>
            </a:r>
            <a:r>
              <a:rPr lang="en-US" altLang="zh-TW" dirty="0" err="1"/>
              <a:t>vTaskResume</a:t>
            </a:r>
            <a:r>
              <a:rPr lang="en-US" altLang="zh-TW" dirty="0"/>
              <a:t>(Task</a:t>
            </a:r>
            <a:r>
              <a:rPr lang="zh-TW" altLang="en-US" dirty="0"/>
              <a:t> </a:t>
            </a:r>
            <a:r>
              <a:rPr lang="en-US" altLang="zh-TW" dirty="0"/>
              <a:t>Handle)</a:t>
            </a:r>
          </a:p>
          <a:p>
            <a:endParaRPr lang="en-US" altLang="zh-TW" dirty="0"/>
          </a:p>
          <a:p>
            <a:r>
              <a:rPr lang="en-US" altLang="zh-TW" dirty="0"/>
              <a:t>Delay </a:t>
            </a:r>
            <a:r>
              <a:rPr lang="zh-TW" altLang="en-US" dirty="0"/>
              <a:t>阻塞：</a:t>
            </a:r>
            <a:r>
              <a:rPr lang="en-US" altLang="zh-TW" dirty="0"/>
              <a:t> </a:t>
            </a:r>
            <a:r>
              <a:rPr lang="en-US" altLang="zh-TW" dirty="0" err="1"/>
              <a:t>osDelay</a:t>
            </a:r>
            <a:r>
              <a:rPr lang="en-US" altLang="zh-TW" dirty="0"/>
              <a:t>()</a:t>
            </a:r>
            <a:r>
              <a:rPr lang="zh-TW" altLang="en-US" dirty="0"/>
              <a:t>，單位 </a:t>
            </a:r>
            <a:r>
              <a:rPr lang="en-US" altLang="zh-TW" dirty="0" err="1"/>
              <a:t>ms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A1D303-BF49-CED3-EA87-F770D228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1833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D2BA43-D3D0-5F45-BCBA-E5FC7D9A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FreeRTOSConfig.h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CE11B8-E5C5-09DF-8D75-243779A99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4FB647-A80E-1C50-98E2-989C1093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89D165-4CC0-A979-797B-4A20F7E6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53331"/>
            <a:ext cx="7136148" cy="350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79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7EDA06-E998-5617-55D9-0F33322F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35FCF7-10FA-8BD0-FC7E-80DE026E6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D43181A6-EFC5-098A-96EB-99384BA4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中斷</a:t>
            </a:r>
          </a:p>
        </p:txBody>
      </p:sp>
    </p:spTree>
    <p:extLst>
      <p:ext uri="{BB962C8B-B14F-4D97-AF65-F5344CB8AC3E}">
        <p14:creationId xmlns:p14="http://schemas.microsoft.com/office/powerpoint/2010/main" val="291838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EB078-89F0-7320-3F9B-22CC4B5FC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STM32 Interrupt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9D6865-AC82-79DF-2806-B1FFFA57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USART</a:t>
            </a:r>
            <a:r>
              <a:rPr lang="zh-TW" altLang="en-US" dirty="0"/>
              <a:t>為例，設定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71329B-6070-11A9-F420-45CA1B38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CB8C671-9C54-C914-269F-2FFADEA1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80988"/>
            <a:ext cx="9373908" cy="134321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629D2BF-6E76-9A2A-AADD-971167693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596" y="3283526"/>
            <a:ext cx="4842805" cy="309756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043C6C2-BCB6-1BE6-8C0F-CD4100AD2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3428999"/>
            <a:ext cx="4346719" cy="3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20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1425B-A92F-5166-8D0D-1B686E8A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Interrupt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792A06-C133-18A0-42E4-4F4AAD58B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 err="1"/>
              <a:t>FreeRTOS</a:t>
            </a:r>
            <a:r>
              <a:rPr lang="en-US" altLang="zh-TW" dirty="0"/>
              <a:t> </a:t>
            </a:r>
            <a:r>
              <a:rPr lang="zh-TW" altLang="en-US" dirty="0"/>
              <a:t>中允許中斷處理程序，本篇章主要說明如何合理規劃任務與中斷、優先級</a:t>
            </a:r>
            <a:r>
              <a:rPr lang="en-US" altLang="zh-TW" dirty="0"/>
              <a:t>…</a:t>
            </a:r>
            <a:r>
              <a:rPr lang="zh-TW" altLang="en-US" dirty="0"/>
              <a:t>等。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任務是跟硬體無關的純軟體程序；但是，</a:t>
            </a:r>
            <a:r>
              <a:rPr lang="en-US" altLang="zh-TW" dirty="0"/>
              <a:t>"</a:t>
            </a:r>
            <a:r>
              <a:rPr lang="zh-TW" altLang="en-US" dirty="0"/>
              <a:t>中斷</a:t>
            </a:r>
            <a:r>
              <a:rPr lang="en-US" altLang="zh-TW" dirty="0"/>
              <a:t>" (Interrupt) </a:t>
            </a:r>
            <a:r>
              <a:rPr lang="zh-TW" altLang="en-US" dirty="0"/>
              <a:t>是與硬體有關的，硬體控制哪個中斷程序將運行以及何時運行。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FreeRTOS</a:t>
            </a:r>
            <a:r>
              <a:rPr lang="en-US" altLang="zh-TW" dirty="0"/>
              <a:t> </a:t>
            </a:r>
            <a:r>
              <a:rPr lang="zh-TW" altLang="en-US" dirty="0"/>
              <a:t>中任務只會在沒有 </a:t>
            </a:r>
            <a:r>
              <a:rPr lang="en-US" altLang="zh-TW" dirty="0"/>
              <a:t>ISR </a:t>
            </a:r>
            <a:r>
              <a:rPr lang="zh-TW" altLang="en-US" dirty="0"/>
              <a:t>正在執行中運行；因此，最低有先權的中斷事件也會中斷最高優先權的任務，而且任務無法搶佔 </a:t>
            </a:r>
            <a:r>
              <a:rPr lang="en-US" altLang="zh-TW" dirty="0"/>
              <a:t>ISR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ISR</a:t>
            </a:r>
            <a:r>
              <a:rPr lang="zh-TW" altLang="en-US" dirty="0"/>
              <a:t>：</a:t>
            </a:r>
            <a:r>
              <a:rPr lang="en-US" altLang="zh-TW" b="1" i="0" dirty="0">
                <a:solidFill>
                  <a:srgbClr val="222226"/>
                </a:solidFill>
                <a:effectLst/>
                <a:latin typeface="PingFang SC"/>
              </a:rPr>
              <a:t> </a:t>
            </a:r>
            <a:r>
              <a:rPr lang="en-US" altLang="zh-TW" i="0" dirty="0">
                <a:solidFill>
                  <a:srgbClr val="222226"/>
                </a:solidFill>
                <a:effectLst/>
                <a:latin typeface="PingFang SC"/>
              </a:rPr>
              <a:t>interrupt service routine</a:t>
            </a:r>
            <a:r>
              <a:rPr lang="zh-TW" altLang="en-US" dirty="0"/>
              <a:t>，中斷服務程序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3F6393-FC1E-9FEA-D135-E33C3706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2153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A7896C-363F-AD3B-CBF1-26BCA7CF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Interrupt</a:t>
            </a:r>
            <a:r>
              <a:rPr lang="zh-TW" altLang="en-US" dirty="0"/>
              <a:t> </a:t>
            </a:r>
            <a:r>
              <a:rPr lang="en-US" altLang="zh-TW" dirty="0"/>
              <a:t>NVIC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7155A0-7D58-5CA4-9ED7-514F0E87D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77778D-01EC-7CCA-FC53-D4E07A94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73AF950-B428-1D6E-3BEE-68B0F47D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3" y="1330488"/>
            <a:ext cx="9050411" cy="419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88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0F0ED6-0F50-73B9-3C84-782B39B1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7F6376-4A08-B2EC-B8F9-EF5E611F0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FD9B60AE-818E-B125-34A6-CA9DEA68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7242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86F4EC-5A1E-6B85-1988-4E3B183E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Software Timer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ED6AF0-5ADF-280E-972D-76534F195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軟體定時器，用於安排函數在未來的某個設定時間執行，或定期執行。計時器啟動到其回呼函數執行之間的時間稱為計時器的週期。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定時器的 </a:t>
            </a:r>
            <a:r>
              <a:rPr lang="en-US" altLang="zh-TW" dirty="0"/>
              <a:t>Callback Function </a:t>
            </a:r>
            <a:r>
              <a:rPr lang="zh-TW" altLang="en-US" dirty="0"/>
              <a:t>在定時器的週期到期時執行。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此計時器與硬體沒有關系，都是靠 </a:t>
            </a:r>
            <a:r>
              <a:rPr lang="en-US" altLang="zh-TW" dirty="0" err="1"/>
              <a:t>FreeRTOS</a:t>
            </a:r>
            <a:r>
              <a:rPr lang="en-US" altLang="zh-TW" dirty="0"/>
              <a:t> </a:t>
            </a:r>
            <a:r>
              <a:rPr lang="zh-TW" altLang="en-US" dirty="0"/>
              <a:t>進行軟體運算。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DB6FD5-5F50-F914-9FF3-1C42923E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2969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C55735-3153-B4D1-46B6-602D3837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Software Timer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341ACB-BA82-A2FC-41A2-0DE48CA8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Timer Callback Function</a:t>
            </a:r>
          </a:p>
          <a:p>
            <a:pPr lvl="1"/>
            <a:r>
              <a:rPr lang="zh-TW" altLang="en-US" dirty="0"/>
              <a:t>軟體定時器需要從頭到尾都處於 </a:t>
            </a:r>
            <a:r>
              <a:rPr lang="en-US" altLang="zh-TW" dirty="0"/>
              <a:t>Running </a:t>
            </a:r>
            <a:r>
              <a:rPr lang="zh-TW" altLang="en-US" dirty="0"/>
              <a:t>狀態，不能進入 </a:t>
            </a:r>
            <a:r>
              <a:rPr lang="en-US" altLang="zh-TW" dirty="0"/>
              <a:t>Blocked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One-shot and Auto-reload Timers</a:t>
            </a:r>
          </a:p>
          <a:p>
            <a:pPr lvl="1"/>
            <a:r>
              <a:rPr lang="zh-TW" altLang="en-US" dirty="0"/>
              <a:t>一次性</a:t>
            </a:r>
            <a:endParaRPr lang="en-US" altLang="zh-TW" dirty="0"/>
          </a:p>
          <a:p>
            <a:pPr lvl="2"/>
            <a:r>
              <a:rPr lang="zh-TW" altLang="en-US" dirty="0"/>
              <a:t>只要一啟動，計時器僅執行 </a:t>
            </a:r>
            <a:r>
              <a:rPr lang="en-US" altLang="zh-TW" dirty="0"/>
              <a:t>Callback Function </a:t>
            </a:r>
          </a:p>
          <a:p>
            <a:pPr lvl="2"/>
            <a:r>
              <a:rPr lang="zh-TW" altLang="en-US" dirty="0"/>
              <a:t>可手動重新啟動，但不會重新啟動 </a:t>
            </a:r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自動</a:t>
            </a:r>
            <a:endParaRPr lang="en-US" altLang="zh-TW" dirty="0"/>
          </a:p>
          <a:p>
            <a:pPr lvl="2"/>
            <a:r>
              <a:rPr lang="zh-TW" altLang="en-US" dirty="0"/>
              <a:t>只要一啟動，計時器就會週期性的執行 </a:t>
            </a:r>
            <a:r>
              <a:rPr lang="en-US" altLang="zh-TW" dirty="0"/>
              <a:t>Callback Function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EB5B1B-0104-0990-F72B-8711A065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4274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982849-1721-FC1F-466C-97729C4C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Software Timer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48B237-195B-2F0D-C15B-ED034BC0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狀態</a:t>
            </a:r>
            <a:endParaRPr lang="en-US" altLang="zh-TW" dirty="0"/>
          </a:p>
          <a:p>
            <a:pPr lvl="1"/>
            <a:r>
              <a:rPr lang="zh-TW" altLang="en-US" dirty="0"/>
              <a:t>休眠：計時器存在、未運行、</a:t>
            </a:r>
            <a:r>
              <a:rPr lang="en-US" altLang="zh-TW" dirty="0"/>
              <a:t>Callback </a:t>
            </a:r>
            <a:r>
              <a:rPr lang="zh-TW" altLang="en-US" dirty="0"/>
              <a:t>不會執行、可以透過 </a:t>
            </a:r>
            <a:r>
              <a:rPr lang="en-US" altLang="zh-TW" dirty="0"/>
              <a:t>API </a:t>
            </a:r>
            <a:r>
              <a:rPr lang="zh-TW" altLang="en-US" dirty="0"/>
              <a:t>喚回</a:t>
            </a:r>
            <a:endParaRPr lang="en-US" altLang="zh-TW" dirty="0"/>
          </a:p>
          <a:p>
            <a:pPr lvl="1"/>
            <a:r>
              <a:rPr lang="zh-TW" altLang="en-US" dirty="0"/>
              <a:t>執行：正在運行的計時器，將在等於其週期的時間後執行其 </a:t>
            </a:r>
            <a:r>
              <a:rPr lang="en-US" altLang="zh-TW" dirty="0"/>
              <a:t>Callback</a:t>
            </a:r>
            <a:r>
              <a:rPr lang="zh-TW" altLang="en-US" dirty="0"/>
              <a:t>；計時器進入運行狀態，或者自上次重置計時器以來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6B426E-3B69-8CBF-2589-756FF408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pic>
        <p:nvPicPr>
          <p:cNvPr id="2052" name="Picture 4" descr="image">
            <a:extLst>
              <a:ext uri="{FF2B5EF4-FFF2-40B4-BE49-F238E27FC236}">
                <a16:creationId xmlns:a16="http://schemas.microsoft.com/office/drawing/2014/main" id="{44AB46EE-012C-1AA4-254C-C51875ABE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55" y="3429000"/>
            <a:ext cx="5549806" cy="24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">
            <a:extLst>
              <a:ext uri="{FF2B5EF4-FFF2-40B4-BE49-F238E27FC236}">
                <a16:creationId xmlns:a16="http://schemas.microsoft.com/office/drawing/2014/main" id="{262CBD0D-60CF-2B83-5E4F-A8963247F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719" y="3317732"/>
            <a:ext cx="5668426" cy="259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771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EEB6E5-84B4-AD83-0E65-7091E689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06C384-2488-68B0-5E24-BD4AB6843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F5CA410A-F0A3-4773-67D4-067FABDB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</a:t>
            </a:r>
          </a:p>
        </p:txBody>
      </p:sp>
    </p:spTree>
    <p:extLst>
      <p:ext uri="{BB962C8B-B14F-4D97-AF65-F5344CB8AC3E}">
        <p14:creationId xmlns:p14="http://schemas.microsoft.com/office/powerpoint/2010/main" val="1830824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163EA5-9E1A-0B34-5BE8-4CDB58D9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E4F908-622E-0034-07F9-4BBDAC069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"</a:t>
            </a:r>
            <a:r>
              <a:rPr lang="zh-TW" altLang="en-US" dirty="0"/>
              <a:t>佇列</a:t>
            </a:r>
            <a:r>
              <a:rPr lang="en-US" altLang="zh-TW" dirty="0"/>
              <a:t>" </a:t>
            </a:r>
            <a:r>
              <a:rPr lang="zh-TW" altLang="en-US" dirty="0"/>
              <a:t>與資料結構相同概念，有 </a:t>
            </a:r>
            <a:r>
              <a:rPr lang="en-US" altLang="zh-TW" dirty="0"/>
              <a:t>FIFO </a:t>
            </a:r>
            <a:r>
              <a:rPr lang="zh-TW" altLang="en-US" dirty="0"/>
              <a:t>的特性。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Free RTOS </a:t>
            </a:r>
            <a:r>
              <a:rPr lang="zh-TW" altLang="en-US" dirty="0"/>
              <a:t>中，</a:t>
            </a:r>
            <a:r>
              <a:rPr lang="en-US" altLang="zh-TW" dirty="0"/>
              <a:t>Queue </a:t>
            </a:r>
            <a:r>
              <a:rPr lang="zh-TW" altLang="en-US" dirty="0"/>
              <a:t>當作個任務之間傳遞訊息的媒介，若是不透過 </a:t>
            </a:r>
            <a:r>
              <a:rPr lang="en-US" altLang="zh-TW" dirty="0"/>
              <a:t>Queue </a:t>
            </a:r>
            <a:r>
              <a:rPr lang="zh-TW" altLang="en-US" dirty="0"/>
              <a:t>則很有可能造成任務互斥而卡死。</a:t>
            </a:r>
            <a:endParaRPr lang="en-US" altLang="zh-TW" dirty="0"/>
          </a:p>
          <a:p>
            <a:pPr lvl="1"/>
            <a:r>
              <a:rPr lang="en-US" altLang="zh-TW" dirty="0"/>
              <a:t>Queue </a:t>
            </a:r>
            <a:r>
              <a:rPr lang="zh-TW" altLang="en-US" dirty="0"/>
              <a:t>可以保存有限數量且固定大小的資料。</a:t>
            </a:r>
          </a:p>
          <a:p>
            <a:pPr lvl="1"/>
            <a:r>
              <a:rPr lang="zh-TW" altLang="en-US" dirty="0"/>
              <a:t>最大容量在 </a:t>
            </a:r>
            <a:r>
              <a:rPr lang="en-US" altLang="zh-TW" dirty="0" err="1"/>
              <a:t>FreeRTOS</a:t>
            </a:r>
            <a:r>
              <a:rPr lang="en-US" altLang="zh-TW" dirty="0"/>
              <a:t> </a:t>
            </a:r>
            <a:r>
              <a:rPr lang="zh-TW" altLang="en-US" dirty="0"/>
              <a:t>中稱為 </a:t>
            </a:r>
            <a:r>
              <a:rPr lang="en-US" altLang="zh-TW" dirty="0"/>
              <a:t>"length"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每個資料的長度與大小都在創建 </a:t>
            </a:r>
            <a:r>
              <a:rPr lang="en-US" altLang="zh-TW" dirty="0"/>
              <a:t>Queue </a:t>
            </a:r>
            <a:r>
              <a:rPr lang="zh-TW" altLang="en-US" dirty="0"/>
              <a:t>時設定。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451D88-70F0-1540-DD87-2C4A4E80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009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9C589-292B-725A-A290-245A7F3C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D66DB-C45F-9857-2C15-B6CCD205C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1"/>
            <a:ext cx="5738806" cy="4351338"/>
          </a:xfrm>
        </p:spPr>
        <p:txBody>
          <a:bodyPr/>
          <a:lstStyle/>
          <a:p>
            <a:r>
              <a:rPr lang="zh-TW" altLang="en-US" dirty="0"/>
              <a:t>假設創建一個 </a:t>
            </a:r>
            <a:r>
              <a:rPr lang="en-US" altLang="zh-TW" dirty="0"/>
              <a:t>length </a:t>
            </a:r>
            <a:r>
              <a:rPr lang="zh-TW" altLang="en-US" dirty="0"/>
              <a:t>為 </a:t>
            </a:r>
            <a:r>
              <a:rPr lang="en-US" altLang="zh-TW" dirty="0"/>
              <a:t>5 </a:t>
            </a:r>
            <a:r>
              <a:rPr lang="zh-TW" altLang="en-US" dirty="0"/>
              <a:t>的 </a:t>
            </a:r>
            <a:r>
              <a:rPr lang="en-US" altLang="zh-TW" dirty="0"/>
              <a:t>Queue </a:t>
            </a:r>
            <a:r>
              <a:rPr lang="zh-TW" altLang="en-US" dirty="0"/>
              <a:t>，當資料寫入時會從最後的位置 </a:t>
            </a:r>
            <a:r>
              <a:rPr lang="en-US" altLang="zh-TW" dirty="0"/>
              <a:t>(</a:t>
            </a:r>
            <a:r>
              <a:rPr lang="zh-TW" altLang="en-US" dirty="0"/>
              <a:t>尾部</a:t>
            </a:r>
            <a:r>
              <a:rPr lang="en-US" altLang="zh-TW" dirty="0"/>
              <a:t>) </a:t>
            </a:r>
            <a:r>
              <a:rPr lang="zh-TW" altLang="en-US" dirty="0"/>
              <a:t>開始寫入，並從 </a:t>
            </a:r>
            <a:r>
              <a:rPr lang="en-US" altLang="zh-TW" dirty="0"/>
              <a:t>Queue </a:t>
            </a:r>
            <a:r>
              <a:rPr lang="zh-TW" altLang="en-US" dirty="0"/>
              <a:t>的最前頭刪除。也可以使用相反的方式寫入，從最頭寫入，最尾刪除。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在設計上通常以 多寫一讀 為主；不太會使用 多讀一寫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DFB523-3FE6-9850-4BDC-4F5F02B6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7939-1B86-4758-9600-54584BD4B2FA}" type="slidenum">
              <a:rPr lang="zh-TW" altLang="en-US" smtClean="0"/>
              <a:pPr/>
              <a:t>28</a:t>
            </a:fld>
            <a:endParaRPr lang="zh-TW" altLang="en-US" dirty="0"/>
          </a:p>
        </p:txBody>
      </p:sp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A316CEB2-18A5-4DBC-E351-089E7BF7C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8" y="609032"/>
            <a:ext cx="4564065" cy="588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45665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Noto Sans TC"/>
        <a:ea typeface="Noto Sans TC"/>
        <a:cs typeface=""/>
      </a:majorFont>
      <a:minorFont>
        <a:latin typeface="Noto Sans TC"/>
        <a:ea typeface="Noto Sans TC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962FF823-764B-42F1-B072-DA88023D3177}" vid="{7A4F9775-CFDD-47DF-826E-6C3EE1EE7B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1306</TotalTime>
  <Words>1138</Words>
  <Application>Microsoft Office PowerPoint</Application>
  <PresentationFormat>寬螢幕</PresentationFormat>
  <Paragraphs>176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PingFang SC</vt:lpstr>
      <vt:lpstr>微軟正黑體</vt:lpstr>
      <vt:lpstr>Arial</vt:lpstr>
      <vt:lpstr>Times New Roman</vt:lpstr>
      <vt:lpstr>佈景主題1</vt:lpstr>
      <vt:lpstr>RTOS</vt:lpstr>
      <vt:lpstr>章節</vt:lpstr>
      <vt:lpstr>基本</vt:lpstr>
      <vt:lpstr>前言</vt:lpstr>
      <vt:lpstr>前言</vt:lpstr>
      <vt:lpstr>架構</vt:lpstr>
      <vt:lpstr>架構</vt:lpstr>
      <vt:lpstr>架構</vt:lpstr>
      <vt:lpstr>設定</vt:lpstr>
      <vt:lpstr>Config parameters</vt:lpstr>
      <vt:lpstr>Config parameters</vt:lpstr>
      <vt:lpstr>Tasks and Queues</vt:lpstr>
      <vt:lpstr>任務設計</vt:lpstr>
      <vt:lpstr>任務設計</vt:lpstr>
      <vt:lpstr>程式</vt:lpstr>
      <vt:lpstr>程式 API</vt:lpstr>
      <vt:lpstr>FreeRTOSConfig.h</vt:lpstr>
      <vt:lpstr>中斷</vt:lpstr>
      <vt:lpstr>STM32 Interrupt</vt:lpstr>
      <vt:lpstr>Interrupt</vt:lpstr>
      <vt:lpstr>Interrupt NVIC</vt:lpstr>
      <vt:lpstr>Timer</vt:lpstr>
      <vt:lpstr>Software Timer</vt:lpstr>
      <vt:lpstr>Software Timer</vt:lpstr>
      <vt:lpstr>Software Timer</vt:lpstr>
      <vt:lpstr>佇列</vt:lpstr>
      <vt:lpstr>Queue</vt:lpstr>
      <vt:lpstr>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書俊 黃</dc:creator>
  <cp:lastModifiedBy>書俊 黃</cp:lastModifiedBy>
  <cp:revision>8</cp:revision>
  <dcterms:created xsi:type="dcterms:W3CDTF">2025-03-01T08:09:45Z</dcterms:created>
  <dcterms:modified xsi:type="dcterms:W3CDTF">2025-03-02T06:08:07Z</dcterms:modified>
</cp:coreProperties>
</file>